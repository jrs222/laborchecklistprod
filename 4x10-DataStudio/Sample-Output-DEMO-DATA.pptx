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DAE1E-643F-41E1-4F42-4F7C029BB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1CE167-25DE-E9F2-8B92-FAAD50519A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448B1-1E99-73A3-9061-E87CF226B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007B4-005C-4988-B311-C13B37696D6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4D366-DB69-F945-6F9B-638A8CC2B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84DB9-3516-9EA2-1BAF-7C208D035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627A6-5A45-4B71-AE6E-687C27EB0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516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7BB99-0DFA-36ED-5A4B-FD4547FDE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274F6-ACD2-D50D-F083-A31EB3CA6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C848A-5F29-1596-89FB-E4AF776B8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007B4-005C-4988-B311-C13B37696D6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86C57-6A57-F54B-B4D2-D85851A74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566E1-62E6-3B04-9FCF-0DFB408D1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627A6-5A45-4B71-AE6E-687C27EB0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404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7C46E-6432-DEC2-8255-5CFFD4862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08C89-2B92-A2F5-C694-B66A69D73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A464E-53A4-E7C1-F1BA-67A8531FA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007B4-005C-4988-B311-C13B37696D6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96E7E-FB04-3BD0-31B8-7250F58AA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D2924-DFD3-53E6-1D6B-8EB708FF2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627A6-5A45-4B71-AE6E-687C27EB0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0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A5D9B-20F6-07FB-E7D8-A024AF004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B382D-C4B7-D8E8-2EEB-2F2A6A28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088A7-F3AD-8D29-F8D5-FA6CE498D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BCD41-ADF3-EDBB-9919-5CC53DC6C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007B4-005C-4988-B311-C13B37696D6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B07B1-6EAB-2208-F53C-E74C44E09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5E09F-ECDB-EAAC-4E0B-F1244A9C2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627A6-5A45-4B71-AE6E-687C27EB0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182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278E-8957-C62F-9715-63B1A50E6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91551-74FA-E848-7A8F-BABE75853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7BB02-DB7C-0ACF-75D9-A4BDEF8B2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AE1DD4-80B6-D5D7-8BC4-2E7F487660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4CAD0E-C4E2-A216-6B26-A17EA91E3A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FCB47F-F516-CD6D-CE86-505785301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007B4-005C-4988-B311-C13B37696D6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5019BE-E05C-5B25-5998-F369FA6C5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46DE79-7F31-78C1-4E6B-7CA626328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627A6-5A45-4B71-AE6E-687C27EB0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082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45041-FAAE-448A-7117-D9EE0DBD3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4E11DC-00D4-5CBB-AC1D-EADFB5B95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007B4-005C-4988-B311-C13B37696D6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A3DE95-CED4-CB76-2232-D6BE2E9E1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948DD-F97A-8E11-05A1-FEA92D77C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627A6-5A45-4B71-AE6E-687C27EB0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15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06FE21-A16E-64A6-6C58-7F26F0050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007B4-005C-4988-B311-C13B37696D6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618E9F-9C68-989F-4395-D265180D1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E618C-31D4-BE8E-E335-CAFE62149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627A6-5A45-4B71-AE6E-687C27EB0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569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16D17-8A2D-AA59-F1F1-7CAADAB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65CE8-96A8-BCB9-E2A3-ECBB11AC9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7B43FC-548F-DB36-18BF-7FF583EE1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795AD-D49C-9812-DDAE-814DEE3F1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007B4-005C-4988-B311-C13B37696D6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E481C-D1FF-D509-2CB2-B2D85F207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AD823-1C2F-AD28-897A-A42AB8B7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627A6-5A45-4B71-AE6E-687C27EB0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82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FB138-3479-BB85-686D-AFE0693C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0F7037-49C2-CA35-7CDD-3F5495B50F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47A829-CA4C-7D06-8821-20A198BEA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BE71B-FDA3-2652-B0BB-0C99E8DF1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007B4-005C-4988-B311-C13B37696D6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1A0CBE-E287-29A2-8FC1-AA492D406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903D74-C4B2-73C6-BF36-3DBF49009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627A6-5A45-4B71-AE6E-687C27EB0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673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AFB8-53D3-C8CE-F465-862C08E5B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1B5E22-47F0-E057-EB4B-FA05EC3A6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1C436-56CA-AA56-ED9D-A80352ACB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007B4-005C-4988-B311-C13B37696D6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98922-1837-7BA7-9744-B081F23C5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95080-A23F-8129-4FF5-2C15CACF2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627A6-5A45-4B71-AE6E-687C27EB0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129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D351F7-AE59-C761-F550-8319FDEDF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C78DB6-2D32-CE32-FA88-D42A5CABA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A7F20-EBFA-EFAE-5554-62A45F0F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007B4-005C-4988-B311-C13B37696D6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D86CC-4580-DEE8-D103-0025211A3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7F290-85B0-B3F0-8269-182391C27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627A6-5A45-4B71-AE6E-687C27EB0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035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88B509-B65B-3801-1CAE-D133E63B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265F2-7923-A748-E0E3-91D2E8B4F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731B0-364F-AFA7-8E64-6548937BE9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007B4-005C-4988-B311-C13B37696D68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14273-7592-4368-7D73-A18F8E5C24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6B3A9-D870-67E2-7F08-7C20B997E7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627A6-5A45-4B71-AE6E-687C27EB0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00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F48917-993F-EA6C-B74C-DCFDBFCE50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ABABD9-8D61-9D6F-3671-77D8BC0FC45E}"/>
              </a:ext>
            </a:extLst>
          </p:cNvPr>
          <p:cNvSpPr/>
          <p:nvPr/>
        </p:nvSpPr>
        <p:spPr>
          <a:xfrm>
            <a:off x="762000" y="1016000"/>
            <a:ext cx="63500" cy="4191000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B75B3C-B142-9CB9-3EE2-3FF0B737A957}"/>
              </a:ext>
            </a:extLst>
          </p:cNvPr>
          <p:cNvSpPr txBox="1"/>
          <p:nvPr/>
        </p:nvSpPr>
        <p:spPr>
          <a:xfrm>
            <a:off x="1143000" y="1117600"/>
            <a:ext cx="1066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2B8C3"/>
                </a:solidFill>
                <a:latin typeface="Calibri" panose="020F0502020204030204" pitchFamily="34" charset="0"/>
              </a:rPr>
              <a:t>APWU–USPS NATIONAL AGREEMENT  •  MAINTENANCE CRAFT PROPOSAL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C8C0B6-C071-E04B-7162-3ADCEB5B6C13}"/>
              </a:ext>
            </a:extLst>
          </p:cNvPr>
          <p:cNvSpPr txBox="1"/>
          <p:nvPr/>
        </p:nvSpPr>
        <p:spPr>
          <a:xfrm>
            <a:off x="1143000" y="1524000"/>
            <a:ext cx="10668000" cy="8002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4600" b="1">
                <a:solidFill>
                  <a:srgbClr val="FFFFFF"/>
                </a:solidFill>
                <a:latin typeface="Calibri" panose="020F0502020204030204" pitchFamily="34" charset="0"/>
              </a:rPr>
              <a:t>4/10 Modified Work Week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1E1DD4-7F25-2BC9-706F-61A385C564CC}"/>
              </a:ext>
            </a:extLst>
          </p:cNvPr>
          <p:cNvSpPr txBox="1"/>
          <p:nvPr/>
        </p:nvSpPr>
        <p:spPr>
          <a:xfrm>
            <a:off x="1143000" y="2540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DCE4F5"/>
                </a:solidFill>
                <a:latin typeface="Calibri" panose="020F0502020204030204" pitchFamily="34" charset="0"/>
              </a:rPr>
              <a:t>Four 10-hour days for full-time regular Maintenance employees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8CE0A7-6F79-4228-B8E7-41D57906A0C9}"/>
              </a:ext>
            </a:extLst>
          </p:cNvPr>
          <p:cNvSpPr txBox="1"/>
          <p:nvPr/>
        </p:nvSpPr>
        <p:spPr>
          <a:xfrm>
            <a:off x="1143000" y="3302000"/>
            <a:ext cx="10414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E8EDF8"/>
                </a:solidFill>
                <a:latin typeface="Calibri" panose="020F0502020204030204" pitchFamily="34" charset="0"/>
              </a:rPr>
              <a:t>Site 19101  •  FY2026 AP4-6</a:t>
            </a:r>
          </a:p>
          <a:p>
            <a:endParaRPr lang="en-US" sz="1500">
              <a:solidFill>
                <a:srgbClr val="E8EDF8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E8EDF8"/>
                </a:solidFill>
                <a:latin typeface="Calibri" panose="020F0502020204030204" pitchFamily="34" charset="0"/>
              </a:rPr>
              <a:t>A win for the Postal Service: same 40 hours, more PMs completed in straight time, less overtime and contractor spend.</a:t>
            </a:r>
          </a:p>
          <a:p>
            <a:r>
              <a:rPr lang="en-US" sz="1500">
                <a:solidFill>
                  <a:srgbClr val="E8EDF8"/>
                </a:solidFill>
                <a:latin typeface="Calibri" panose="020F0502020204030204" pitchFamily="34" charset="0"/>
              </a:rPr>
              <a:t>A win for the Union: every protection intact, 52 extra days off a year — authorized by the national Modified Work Week MOU.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F4E3EC-08BF-6251-8B91-AF01A42A1DB7}"/>
              </a:ext>
            </a:extLst>
          </p:cNvPr>
          <p:cNvSpPr/>
          <p:nvPr/>
        </p:nvSpPr>
        <p:spPr>
          <a:xfrm>
            <a:off x="0" y="6426200"/>
            <a:ext cx="12192000" cy="431800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EC90AD-2CAA-61DA-A09D-5E38F7FEFB90}"/>
              </a:ext>
            </a:extLst>
          </p:cNvPr>
          <p:cNvSpPr txBox="1"/>
          <p:nvPr/>
        </p:nvSpPr>
        <p:spPr>
          <a:xfrm>
            <a:off x="355600" y="65024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Calibri" panose="020F0502020204030204" pitchFamily="34" charset="0"/>
              </a:rPr>
              <a:t>Generated 10/23/2026, 5:10:00 PM — data: NMARS + WebEOR</a:t>
            </a:r>
          </a:p>
        </p:txBody>
      </p:sp>
    </p:spTree>
    <p:extLst>
      <p:ext uri="{BB962C8B-B14F-4D97-AF65-F5344CB8AC3E}">
        <p14:creationId xmlns:p14="http://schemas.microsoft.com/office/powerpoint/2010/main" val="2988390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497C7-170B-577D-EA84-6F377841B840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BF2A7D-4DAC-C3A2-D2A3-A3DDF6CD9533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EE197F-AA0E-68F0-1CA5-B21570B07381}"/>
              </a:ext>
            </a:extLst>
          </p:cNvPr>
          <p:cNvSpPr txBox="1"/>
          <p:nvPr/>
        </p:nvSpPr>
        <p:spPr>
          <a:xfrm>
            <a:off x="355600" y="1016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F2B8C3"/>
                </a:solidFill>
                <a:latin typeface="Calibri" panose="020F0502020204030204" pitchFamily="34" charset="0"/>
              </a:rPr>
              <a:t>SCORECARD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B46A90-D664-2CF4-B20D-E3BAEF535D75}"/>
              </a:ext>
            </a:extLst>
          </p:cNvPr>
          <p:cNvSpPr txBox="1"/>
          <p:nvPr/>
        </p:nvSpPr>
        <p:spPr>
          <a:xfrm>
            <a:off x="355600" y="304800"/>
            <a:ext cx="1143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The numbers, on one slide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67AAE2-FFE2-BF94-B44F-B78C83EDA6BE}"/>
              </a:ext>
            </a:extLst>
          </p:cNvPr>
          <p:cNvSpPr/>
          <p:nvPr/>
        </p:nvSpPr>
        <p:spPr>
          <a:xfrm>
            <a:off x="355600" y="1168400"/>
            <a:ext cx="2260600" cy="1168400"/>
          </a:xfrm>
          <a:prstGeom prst="rect">
            <a:avLst/>
          </a:prstGeom>
          <a:solidFill>
            <a:srgbClr val="EDF1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C8B7A0-C0DD-0624-7CCD-85CC55FDED09}"/>
              </a:ext>
            </a:extLst>
          </p:cNvPr>
          <p:cNvSpPr/>
          <p:nvPr/>
        </p:nvSpPr>
        <p:spPr>
          <a:xfrm>
            <a:off x="355600" y="1168400"/>
            <a:ext cx="2260600" cy="508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9F4FFB-8F66-E9FE-46E0-6CD4170B0CC0}"/>
              </a:ext>
            </a:extLst>
          </p:cNvPr>
          <p:cNvSpPr txBox="1"/>
          <p:nvPr/>
        </p:nvSpPr>
        <p:spPr>
          <a:xfrm>
            <a:off x="482600" y="1320800"/>
            <a:ext cx="2057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1F3864"/>
                </a:solidFill>
                <a:latin typeface="Calibri" panose="020F0502020204030204" pitchFamily="34" charset="0"/>
              </a:rPr>
              <a:t>98.2%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CB308E-8B33-C4C1-65DD-C18AE07DC5D9}"/>
              </a:ext>
            </a:extLst>
          </p:cNvPr>
          <p:cNvSpPr txBox="1"/>
          <p:nvPr/>
        </p:nvSpPr>
        <p:spPr>
          <a:xfrm>
            <a:off x="482600" y="1803400"/>
            <a:ext cx="20574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5A606A"/>
                </a:solidFill>
                <a:latin typeface="Calibri" panose="020F0502020204030204" pitchFamily="34" charset="0"/>
              </a:rPr>
              <a:t>eCBM PM completion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EC3BFB-4CBE-B9DE-49E9-5B4FCDE64059}"/>
              </a:ext>
            </a:extLst>
          </p:cNvPr>
          <p:cNvSpPr/>
          <p:nvPr/>
        </p:nvSpPr>
        <p:spPr>
          <a:xfrm>
            <a:off x="2692400" y="1168400"/>
            <a:ext cx="2260600" cy="1168400"/>
          </a:xfrm>
          <a:prstGeom prst="rect">
            <a:avLst/>
          </a:prstGeom>
          <a:solidFill>
            <a:srgbClr val="EDF1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51ED33-1C58-E22D-80B5-03B69D9F0B98}"/>
              </a:ext>
            </a:extLst>
          </p:cNvPr>
          <p:cNvSpPr/>
          <p:nvPr/>
        </p:nvSpPr>
        <p:spPr>
          <a:xfrm>
            <a:off x="2692400" y="1168400"/>
            <a:ext cx="2260600" cy="508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96DE09-1E6B-63C4-0798-70AE8FB2A1D3}"/>
              </a:ext>
            </a:extLst>
          </p:cNvPr>
          <p:cNvSpPr txBox="1"/>
          <p:nvPr/>
        </p:nvSpPr>
        <p:spPr>
          <a:xfrm>
            <a:off x="2819400" y="1320800"/>
            <a:ext cx="2057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1F3864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73F043-E1F5-A894-689E-4D333B42955E}"/>
              </a:ext>
            </a:extLst>
          </p:cNvPr>
          <p:cNvSpPr txBox="1"/>
          <p:nvPr/>
        </p:nvSpPr>
        <p:spPr>
          <a:xfrm>
            <a:off x="2819400" y="1803400"/>
            <a:ext cx="20574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5A606A"/>
                </a:solidFill>
                <a:latin typeface="Calibri" panose="020F0502020204030204" pitchFamily="34" charset="0"/>
              </a:rPr>
              <a:t>Tasks bypassed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986C4D-06F0-744F-93D4-24C1265D6017}"/>
              </a:ext>
            </a:extLst>
          </p:cNvPr>
          <p:cNvSpPr/>
          <p:nvPr/>
        </p:nvSpPr>
        <p:spPr>
          <a:xfrm>
            <a:off x="5029200" y="1168400"/>
            <a:ext cx="2260600" cy="1168400"/>
          </a:xfrm>
          <a:prstGeom prst="rect">
            <a:avLst/>
          </a:prstGeom>
          <a:solidFill>
            <a:srgbClr val="EDF1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6F60A7-E791-BF27-AEBD-F5280D62495D}"/>
              </a:ext>
            </a:extLst>
          </p:cNvPr>
          <p:cNvSpPr/>
          <p:nvPr/>
        </p:nvSpPr>
        <p:spPr>
          <a:xfrm>
            <a:off x="5029200" y="1168400"/>
            <a:ext cx="2260600" cy="508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9C5CF1-64AC-B806-6AC6-CB4A3414EF9C}"/>
              </a:ext>
            </a:extLst>
          </p:cNvPr>
          <p:cNvSpPr txBox="1"/>
          <p:nvPr/>
        </p:nvSpPr>
        <p:spPr>
          <a:xfrm>
            <a:off x="5156200" y="1320800"/>
            <a:ext cx="2057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1F3864"/>
                </a:solidFill>
                <a:latin typeface="Calibri" panose="020F0502020204030204" pitchFamily="34" charset="0"/>
              </a:rPr>
              <a:t>$1,602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6DF4A1-98DF-83FD-5BAF-FBD5D3716E71}"/>
              </a:ext>
            </a:extLst>
          </p:cNvPr>
          <p:cNvSpPr txBox="1"/>
          <p:nvPr/>
        </p:nvSpPr>
        <p:spPr>
          <a:xfrm>
            <a:off x="5156200" y="1803400"/>
            <a:ext cx="20574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5A606A"/>
                </a:solidFill>
                <a:latin typeface="Calibri" panose="020F0502020204030204" pitchFamily="34" charset="0"/>
              </a:rPr>
              <a:t>Contract cost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40678A-7200-9D9B-8770-2A73B0E1B738}"/>
              </a:ext>
            </a:extLst>
          </p:cNvPr>
          <p:cNvSpPr/>
          <p:nvPr/>
        </p:nvSpPr>
        <p:spPr>
          <a:xfrm>
            <a:off x="7366000" y="1168400"/>
            <a:ext cx="2260600" cy="1168400"/>
          </a:xfrm>
          <a:prstGeom prst="rect">
            <a:avLst/>
          </a:prstGeom>
          <a:solidFill>
            <a:srgbClr val="EDF1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DBDC43-D06E-5163-1A4A-503D49A4028C}"/>
              </a:ext>
            </a:extLst>
          </p:cNvPr>
          <p:cNvSpPr/>
          <p:nvPr/>
        </p:nvSpPr>
        <p:spPr>
          <a:xfrm>
            <a:off x="7366000" y="1168400"/>
            <a:ext cx="2260600" cy="508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AB5FC7-B67F-1438-610F-551AED1A8F64}"/>
              </a:ext>
            </a:extLst>
          </p:cNvPr>
          <p:cNvSpPr txBox="1"/>
          <p:nvPr/>
        </p:nvSpPr>
        <p:spPr>
          <a:xfrm>
            <a:off x="7493000" y="1320800"/>
            <a:ext cx="2057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1F3864"/>
                </a:solidFill>
                <a:latin typeface="Calibri" panose="020F0502020204030204" pitchFamily="34" charset="0"/>
              </a:rPr>
              <a:t>10.0%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EB41D2-6F24-62F7-4FFB-70F5ECA9E1AF}"/>
              </a:ext>
            </a:extLst>
          </p:cNvPr>
          <p:cNvSpPr txBox="1"/>
          <p:nvPr/>
        </p:nvSpPr>
        <p:spPr>
          <a:xfrm>
            <a:off x="7493000" y="1803400"/>
            <a:ext cx="20574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5A606A"/>
                </a:solidFill>
                <a:latin typeface="Calibri" panose="020F0502020204030204" pitchFamily="34" charset="0"/>
              </a:rPr>
              <a:t>Down-time share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A9DFA3-F78D-CDEB-98DA-43A90CC1838B}"/>
              </a:ext>
            </a:extLst>
          </p:cNvPr>
          <p:cNvSpPr/>
          <p:nvPr/>
        </p:nvSpPr>
        <p:spPr>
          <a:xfrm>
            <a:off x="9702800" y="1168400"/>
            <a:ext cx="2260600" cy="1168400"/>
          </a:xfrm>
          <a:prstGeom prst="rect">
            <a:avLst/>
          </a:prstGeom>
          <a:solidFill>
            <a:srgbClr val="EDF1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FEC691-EECF-7FA9-0D3B-6A4B505E23AA}"/>
              </a:ext>
            </a:extLst>
          </p:cNvPr>
          <p:cNvSpPr/>
          <p:nvPr/>
        </p:nvSpPr>
        <p:spPr>
          <a:xfrm>
            <a:off x="9702800" y="1168400"/>
            <a:ext cx="2260600" cy="508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97E849-A737-1681-7624-D965F27A1567}"/>
              </a:ext>
            </a:extLst>
          </p:cNvPr>
          <p:cNvSpPr txBox="1"/>
          <p:nvPr/>
        </p:nvSpPr>
        <p:spPr>
          <a:xfrm>
            <a:off x="9829800" y="1320800"/>
            <a:ext cx="2057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1F3864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462163-501C-15CC-B3EC-5C822C5D67A1}"/>
              </a:ext>
            </a:extLst>
          </p:cNvPr>
          <p:cNvSpPr txBox="1"/>
          <p:nvPr/>
        </p:nvSpPr>
        <p:spPr>
          <a:xfrm>
            <a:off x="9829800" y="1803400"/>
            <a:ext cx="20574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5A606A"/>
                </a:solidFill>
                <a:latin typeface="Calibri" panose="020F0502020204030204" pitchFamily="34" charset="0"/>
              </a:rPr>
              <a:t>Maintenance runs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DD08A46-6ED8-25FD-9B76-E6721A8D7D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824593"/>
              </p:ext>
            </p:extLst>
          </p:nvPr>
        </p:nvGraphicFramePr>
        <p:xfrm>
          <a:off x="355600" y="2616200"/>
          <a:ext cx="11480800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4000">
                  <a:extLst>
                    <a:ext uri="{9D8B030D-6E8A-4147-A177-3AD203B41FA5}">
                      <a16:colId xmlns:a16="http://schemas.microsoft.com/office/drawing/2014/main" val="3442664298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1881965631"/>
                    </a:ext>
                  </a:extLst>
                </a:gridCol>
              </a:tblGrid>
              <a:tr h="334818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1252B"/>
                          </a:solidFill>
                        </a:rPr>
                        <a:t>eCBM PM completion (site avg)</a:t>
                      </a:r>
                    </a:p>
                  </a:txBody>
                  <a:tcPr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1F3864"/>
                          </a:solidFill>
                        </a:rPr>
                        <a:t>98.2%</a:t>
                      </a:r>
                    </a:p>
                  </a:txBody>
                  <a:tcPr>
                    <a:solidFill>
                      <a:srgbClr val="ED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554971"/>
                  </a:ext>
                </a:extLst>
              </a:tr>
              <a:tr h="334818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1252B"/>
                          </a:solidFill>
                        </a:rPr>
                        <a:t>PM tasks bypassed (period)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1F3864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886944"/>
                  </a:ext>
                </a:extLst>
              </a:tr>
              <a:tr h="334818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1252B"/>
                          </a:solidFill>
                        </a:rPr>
                        <a:t>Contract maintenance cost (period)</a:t>
                      </a:r>
                    </a:p>
                  </a:txBody>
                  <a:tcPr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1F3864"/>
                          </a:solidFill>
                        </a:rPr>
                        <a:t>$1,602</a:t>
                      </a:r>
                    </a:p>
                  </a:txBody>
                  <a:tcPr>
                    <a:solidFill>
                      <a:srgbClr val="ED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006955"/>
                  </a:ext>
                </a:extLst>
              </a:tr>
              <a:tr h="334818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1252B"/>
                          </a:solidFill>
                        </a:rPr>
                        <a:t>Production down-time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1F3864"/>
                          </a:solidFill>
                        </a:rPr>
                        <a:t>10.0%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071567"/>
                  </a:ext>
                </a:extLst>
              </a:tr>
              <a:tr h="334818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1252B"/>
                          </a:solidFill>
                        </a:rPr>
                        <a:t>Maintenance runs (windows kept)</a:t>
                      </a:r>
                    </a:p>
                  </a:txBody>
                  <a:tcPr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926078"/>
                  </a:ext>
                </a:extLst>
              </a:tr>
              <a:tr h="334818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1252B"/>
                          </a:solidFill>
                        </a:rPr>
                        <a:t>Avg maintenance window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1F3864"/>
                          </a:solidFill>
                        </a:rPr>
                        <a:t>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990492"/>
                  </a:ext>
                </a:extLst>
              </a:tr>
              <a:tr h="334818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1252B"/>
                          </a:solidFill>
                        </a:rPr>
                        <a:t>Plan-vs-actual run efficiency</a:t>
                      </a:r>
                    </a:p>
                  </a:txBody>
                  <a:tcPr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1F3864"/>
                          </a:solidFill>
                        </a:rPr>
                        <a:t>86.8%</a:t>
                      </a:r>
                    </a:p>
                  </a:txBody>
                  <a:tcPr>
                    <a:solidFill>
                      <a:srgbClr val="ED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734549"/>
                  </a:ext>
                </a:extLst>
              </a:tr>
              <a:tr h="334818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1252B"/>
                          </a:solidFill>
                        </a:rPr>
                        <a:t>Jams per 10k pieces fed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1F3864"/>
                          </a:solidFill>
                        </a:rPr>
                        <a:t>3.4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771148"/>
                  </a:ext>
                </a:extLst>
              </a:tr>
              <a:tr h="334818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1252B"/>
                          </a:solidFill>
                        </a:rPr>
                        <a:t>Stock room parts on hand</a:t>
                      </a:r>
                    </a:p>
                  </a:txBody>
                  <a:tcPr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1F386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588706"/>
                  </a:ext>
                </a:extLst>
              </a:tr>
              <a:tr h="334818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1252B"/>
                          </a:solidFill>
                        </a:rPr>
                        <a:t>Equipment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1F3864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140359"/>
                  </a:ext>
                </a:extLst>
              </a:tr>
              <a:tr h="334818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1252B"/>
                          </a:solidFill>
                        </a:rPr>
                        <a:t>Business case</a:t>
                      </a:r>
                    </a:p>
                  </a:txBody>
                  <a:tcPr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1F3864"/>
                          </a:solidFill>
                        </a:rPr>
                        <a:t>Same 40 hours = zero added straight-time labor cost</a:t>
                      </a:r>
                    </a:p>
                  </a:txBody>
                  <a:tcPr>
                    <a:solidFill>
                      <a:srgbClr val="ED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72769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3E8E3C93-5B5B-27EE-DE50-FD47FA9EB814}"/>
              </a:ext>
            </a:extLst>
          </p:cNvPr>
          <p:cNvSpPr txBox="1"/>
          <p:nvPr/>
        </p:nvSpPr>
        <p:spPr>
          <a:xfrm>
            <a:off x="355600" y="6553200"/>
            <a:ext cx="1143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5A606A"/>
                </a:solidFill>
                <a:latin typeface="Calibri" panose="020F0502020204030204" pitchFamily="34" charset="0"/>
              </a:rPr>
              <a:t>19101  |  FY2026 AP4-6  |  4/10 Modified Work Week proposal  |  generated 10/23/2026, 5:10:00 PM</a:t>
            </a:r>
          </a:p>
        </p:txBody>
      </p:sp>
    </p:spTree>
    <p:extLst>
      <p:ext uri="{BB962C8B-B14F-4D97-AF65-F5344CB8AC3E}">
        <p14:creationId xmlns:p14="http://schemas.microsoft.com/office/powerpoint/2010/main" val="1337536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C21345-D45E-15E3-98C5-4BE2EF0C3A28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16A3AC-7974-337D-BC2D-FF9B30EE47DD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94B9D1-74BF-6187-B67C-67E9961BE3E4}"/>
              </a:ext>
            </a:extLst>
          </p:cNvPr>
          <p:cNvSpPr txBox="1"/>
          <p:nvPr/>
        </p:nvSpPr>
        <p:spPr>
          <a:xfrm>
            <a:off x="355600" y="1016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F2B8C3"/>
                </a:solidFill>
                <a:latin typeface="Calibri" panose="020F0502020204030204" pitchFamily="34" charset="0"/>
              </a:rPr>
              <a:t>BUSINESS CASE — USPS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7EE882-74E4-F3E2-1FAF-EDB3AE8E4E3B}"/>
              </a:ext>
            </a:extLst>
          </p:cNvPr>
          <p:cNvSpPr txBox="1"/>
          <p:nvPr/>
        </p:nvSpPr>
        <p:spPr>
          <a:xfrm>
            <a:off x="355600" y="304800"/>
            <a:ext cx="1143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Preventive maintenance actually gets done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214C58-B78B-9E0B-754E-E7ADF2FB22FD}"/>
              </a:ext>
            </a:extLst>
          </p:cNvPr>
          <p:cNvSpPr txBox="1"/>
          <p:nvPr/>
        </p:nvSpPr>
        <p:spPr>
          <a:xfrm>
            <a:off x="355600" y="1219200"/>
            <a:ext cx="381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1F3864"/>
                </a:solidFill>
                <a:latin typeface="Calibri" panose="020F0502020204030204" pitchFamily="34" charset="0"/>
              </a:rPr>
              <a:t>Avg site completion: 98.2%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51E89F-4BFA-34D6-4F7A-CF08769812F5}"/>
              </a:ext>
            </a:extLst>
          </p:cNvPr>
          <p:cNvSpPr txBox="1"/>
          <p:nvPr/>
        </p:nvSpPr>
        <p:spPr>
          <a:xfrm>
            <a:off x="4318000" y="1219200"/>
            <a:ext cx="508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5A606A"/>
                </a:solidFill>
                <a:latin typeface="Calibri" panose="020F0502020204030204" pitchFamily="34" charset="0"/>
              </a:rPr>
              <a:t>Rows below 100%: 2   —   every gap is PM not finished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3A2454-54F6-7061-4963-8635C0366EFA}"/>
              </a:ext>
            </a:extLst>
          </p:cNvPr>
          <p:cNvSpPr txBox="1"/>
          <p:nvPr/>
        </p:nvSpPr>
        <p:spPr>
          <a:xfrm>
            <a:off x="508000" y="1803400"/>
            <a:ext cx="1117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5A606A"/>
                </a:solidFill>
                <a:latin typeface="Calibri" panose="020F0502020204030204" pitchFamily="34" charset="0"/>
              </a:rPr>
              <a:t>Completion % by row (top rows)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F997ED-23EF-1600-B4F7-CBC92F99C74F}"/>
              </a:ext>
            </a:extLst>
          </p:cNvPr>
          <p:cNvSpPr/>
          <p:nvPr/>
        </p:nvSpPr>
        <p:spPr>
          <a:xfrm>
            <a:off x="1845733" y="2032000"/>
            <a:ext cx="1143000" cy="3479800"/>
          </a:xfrm>
          <a:prstGeom prst="rect">
            <a:avLst/>
          </a:prstGeom>
          <a:solidFill>
            <a:srgbClr val="2E4E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75A1E0-6D0A-4501-C0DC-25EEFDA7C2F8}"/>
              </a:ext>
            </a:extLst>
          </p:cNvPr>
          <p:cNvSpPr txBox="1"/>
          <p:nvPr/>
        </p:nvSpPr>
        <p:spPr>
          <a:xfrm>
            <a:off x="1112520" y="5537200"/>
            <a:ext cx="5132493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21252B"/>
                </a:solidFill>
                <a:latin typeface="Calibri" panose="020F0502020204030204" pitchFamily="34" charset="0"/>
              </a:rPr>
              <a:t>DBCS 012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F7175C-BFFE-5651-884A-E9EFC3C3CB78}"/>
              </a:ext>
            </a:extLst>
          </p:cNvPr>
          <p:cNvSpPr/>
          <p:nvPr/>
        </p:nvSpPr>
        <p:spPr>
          <a:xfrm>
            <a:off x="5511800" y="2084197"/>
            <a:ext cx="1143000" cy="3427603"/>
          </a:xfrm>
          <a:prstGeom prst="rect">
            <a:avLst/>
          </a:prstGeom>
          <a:solidFill>
            <a:srgbClr val="2E4E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3C77EA-D579-4608-9E18-6F85FDF54228}"/>
              </a:ext>
            </a:extLst>
          </p:cNvPr>
          <p:cNvSpPr txBox="1"/>
          <p:nvPr/>
        </p:nvSpPr>
        <p:spPr>
          <a:xfrm>
            <a:off x="4778587" y="5537200"/>
            <a:ext cx="5132493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21252B"/>
                </a:solidFill>
                <a:latin typeface="Calibri" panose="020F0502020204030204" pitchFamily="34" charset="0"/>
              </a:rPr>
              <a:t>DBCS 015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4A9814-3BEB-1463-5800-6C56E2ED218B}"/>
              </a:ext>
            </a:extLst>
          </p:cNvPr>
          <p:cNvSpPr/>
          <p:nvPr/>
        </p:nvSpPr>
        <p:spPr>
          <a:xfrm>
            <a:off x="9177867" y="2164232"/>
            <a:ext cx="1143000" cy="3347568"/>
          </a:xfrm>
          <a:prstGeom prst="rect">
            <a:avLst/>
          </a:prstGeom>
          <a:solidFill>
            <a:srgbClr val="2E4E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56B2B5-6D40-FB28-4245-160FFEDB9764}"/>
              </a:ext>
            </a:extLst>
          </p:cNvPr>
          <p:cNvSpPr txBox="1"/>
          <p:nvPr/>
        </p:nvSpPr>
        <p:spPr>
          <a:xfrm>
            <a:off x="8444654" y="5537200"/>
            <a:ext cx="5132493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21252B"/>
                </a:solidFill>
                <a:latin typeface="Calibri" panose="020F0502020204030204" pitchFamily="34" charset="0"/>
              </a:rPr>
              <a:t>AFSM100 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A7D7E5-D7EA-4E88-A67A-598574DB018C}"/>
              </a:ext>
            </a:extLst>
          </p:cNvPr>
          <p:cNvSpPr txBox="1"/>
          <p:nvPr/>
        </p:nvSpPr>
        <p:spPr>
          <a:xfrm>
            <a:off x="508000" y="59690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21252B"/>
                </a:solidFill>
                <a:latin typeface="Calibri" panose="020F0502020204030204" pitchFamily="34" charset="0"/>
              </a:rPr>
              <a:t>A 10-hour shift gives one uninterrupted window: LOTO, setup, and post-dispatch machine access happen once — not twice.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C6C74C-BCC5-A113-0778-DA8A1045FE0F}"/>
              </a:ext>
            </a:extLst>
          </p:cNvPr>
          <p:cNvSpPr txBox="1"/>
          <p:nvPr/>
        </p:nvSpPr>
        <p:spPr>
          <a:xfrm>
            <a:off x="355600" y="6553200"/>
            <a:ext cx="1143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5A606A"/>
                </a:solidFill>
                <a:latin typeface="Calibri" panose="020F0502020204030204" pitchFamily="34" charset="0"/>
              </a:rPr>
              <a:t>19101  |  FY2026 AP4-6  |  4/10 Modified Work Week proposal  |  generated 10/23/2026, 5:10:00 PM</a:t>
            </a:r>
          </a:p>
        </p:txBody>
      </p:sp>
    </p:spTree>
    <p:extLst>
      <p:ext uri="{BB962C8B-B14F-4D97-AF65-F5344CB8AC3E}">
        <p14:creationId xmlns:p14="http://schemas.microsoft.com/office/powerpoint/2010/main" val="3213086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24FF4B-32FC-9167-4384-B1ABACCE9D70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301827-BFA8-90E6-DE91-4042FA22E7DF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DEA3FA-3EDD-857C-9BF4-776D965FE691}"/>
              </a:ext>
            </a:extLst>
          </p:cNvPr>
          <p:cNvSpPr txBox="1"/>
          <p:nvPr/>
        </p:nvSpPr>
        <p:spPr>
          <a:xfrm>
            <a:off x="355600" y="1016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F2B8C3"/>
                </a:solidFill>
                <a:latin typeface="Calibri" panose="020F0502020204030204" pitchFamily="34" charset="0"/>
              </a:rPr>
              <a:t>BUSINESS CASE — USPS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4586CC-A7E8-71AC-B571-B19C1DB5BD52}"/>
              </a:ext>
            </a:extLst>
          </p:cNvPr>
          <p:cNvSpPr txBox="1"/>
          <p:nvPr/>
        </p:nvSpPr>
        <p:spPr>
          <a:xfrm>
            <a:off x="355600" y="304800"/>
            <a:ext cx="1143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Bypassed PMs are deferred risk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02FA1E-50C4-DA55-016F-12AF4CB5AAB5}"/>
              </a:ext>
            </a:extLst>
          </p:cNvPr>
          <p:cNvSpPr txBox="1"/>
          <p:nvPr/>
        </p:nvSpPr>
        <p:spPr>
          <a:xfrm>
            <a:off x="355600" y="12192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C8102E"/>
                </a:solidFill>
                <a:latin typeface="Calibri" panose="020F0502020204030204" pitchFamily="34" charset="0"/>
              </a:rPr>
              <a:t>eCBM tasks bypassed: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D5FCFA-C58F-E005-B647-918765FC35A9}"/>
              </a:ext>
            </a:extLst>
          </p:cNvPr>
          <p:cNvSpPr txBox="1"/>
          <p:nvPr/>
        </p:nvSpPr>
        <p:spPr>
          <a:xfrm>
            <a:off x="508000" y="1803400"/>
            <a:ext cx="1117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5A606A"/>
                </a:solidFill>
                <a:latin typeface="Calibri" panose="020F0502020204030204" pitchFamily="34" charset="0"/>
              </a:rPr>
              <a:t>Bypassed tasks by month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C12C60-D99A-B1E5-248E-2A1D1ECF192A}"/>
              </a:ext>
            </a:extLst>
          </p:cNvPr>
          <p:cNvSpPr/>
          <p:nvPr/>
        </p:nvSpPr>
        <p:spPr>
          <a:xfrm>
            <a:off x="2762250" y="3191933"/>
            <a:ext cx="1143000" cy="2319867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88D5BC-F795-371D-7423-C51B2E084F32}"/>
              </a:ext>
            </a:extLst>
          </p:cNvPr>
          <p:cNvSpPr txBox="1"/>
          <p:nvPr/>
        </p:nvSpPr>
        <p:spPr>
          <a:xfrm>
            <a:off x="1662430" y="5537200"/>
            <a:ext cx="769874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21252B"/>
                </a:solidFill>
                <a:latin typeface="Calibri" panose="020F0502020204030204" pitchFamily="34" charset="0"/>
              </a:rPr>
              <a:t>2/2026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C5AE39-B651-A4D0-58AA-C998640FE937}"/>
              </a:ext>
            </a:extLst>
          </p:cNvPr>
          <p:cNvSpPr/>
          <p:nvPr/>
        </p:nvSpPr>
        <p:spPr>
          <a:xfrm>
            <a:off x="8261350" y="2032000"/>
            <a:ext cx="1143000" cy="3479800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8DE7EA-3263-2E70-E87D-BD493C956654}"/>
              </a:ext>
            </a:extLst>
          </p:cNvPr>
          <p:cNvSpPr txBox="1"/>
          <p:nvPr/>
        </p:nvSpPr>
        <p:spPr>
          <a:xfrm>
            <a:off x="7161530" y="5537200"/>
            <a:ext cx="769874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21252B"/>
                </a:solidFill>
                <a:latin typeface="Calibri" panose="020F0502020204030204" pitchFamily="34" charset="0"/>
              </a:rPr>
              <a:t>3/2026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4F6628-6534-AC0F-063D-9F39CDA5C5AB}"/>
              </a:ext>
            </a:extLst>
          </p:cNvPr>
          <p:cNvSpPr txBox="1"/>
          <p:nvPr/>
        </p:nvSpPr>
        <p:spPr>
          <a:xfrm>
            <a:off x="508000" y="59690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21252B"/>
                </a:solidFill>
                <a:latin typeface="Calibri" panose="020F0502020204030204" pitchFamily="34" charset="0"/>
              </a:rPr>
              <a:t>Each bypassed task is deferred risk. A 10-hour window finishes jobs that currently can't be completed without taking a machine down mid-shift.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413CDB-198B-FB13-7CE8-15CA2C242E64}"/>
              </a:ext>
            </a:extLst>
          </p:cNvPr>
          <p:cNvSpPr txBox="1"/>
          <p:nvPr/>
        </p:nvSpPr>
        <p:spPr>
          <a:xfrm>
            <a:off x="355600" y="6553200"/>
            <a:ext cx="1143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5A606A"/>
                </a:solidFill>
                <a:latin typeface="Calibri" panose="020F0502020204030204" pitchFamily="34" charset="0"/>
              </a:rPr>
              <a:t>19101  |  FY2026 AP4-6  |  4/10 Modified Work Week proposal  |  generated 10/23/2026, 5:10:00 PM</a:t>
            </a:r>
          </a:p>
        </p:txBody>
      </p:sp>
    </p:spTree>
    <p:extLst>
      <p:ext uri="{BB962C8B-B14F-4D97-AF65-F5344CB8AC3E}">
        <p14:creationId xmlns:p14="http://schemas.microsoft.com/office/powerpoint/2010/main" val="3411311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7CA4E0-B2EF-F675-E45B-6F5526B56B6C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690690-32FD-3002-6FB5-39705330DD82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6A01BD-A4F6-3031-1C2B-77C5190ECC45}"/>
              </a:ext>
            </a:extLst>
          </p:cNvPr>
          <p:cNvSpPr txBox="1"/>
          <p:nvPr/>
        </p:nvSpPr>
        <p:spPr>
          <a:xfrm>
            <a:off x="355600" y="1016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F2B8C3"/>
                </a:solidFill>
                <a:latin typeface="Calibri" panose="020F0502020204030204" pitchFamily="34" charset="0"/>
              </a:rPr>
              <a:t>BUSINESS CASE — USPS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919198-C9EF-8980-A348-AD1F202D16EF}"/>
              </a:ext>
            </a:extLst>
          </p:cNvPr>
          <p:cNvSpPr txBox="1"/>
          <p:nvPr/>
        </p:nvSpPr>
        <p:spPr>
          <a:xfrm>
            <a:off x="355600" y="304800"/>
            <a:ext cx="1143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The trend line before the pilot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3B927B-AFC0-9999-3AC4-8DB135B55841}"/>
              </a:ext>
            </a:extLst>
          </p:cNvPr>
          <p:cNvSpPr txBox="1"/>
          <p:nvPr/>
        </p:nvSpPr>
        <p:spPr>
          <a:xfrm>
            <a:off x="508000" y="1930400"/>
            <a:ext cx="1117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5A606A"/>
                </a:solidFill>
                <a:latin typeface="Calibri" panose="020F0502020204030204" pitchFamily="34" charset="0"/>
              </a:rPr>
              <a:t>Trend: Completion 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6A1886-C826-30BF-2887-BBA9709CD2C6}"/>
              </a:ext>
            </a:extLst>
          </p:cNvPr>
          <p:cNvSpPr/>
          <p:nvPr/>
        </p:nvSpPr>
        <p:spPr>
          <a:xfrm>
            <a:off x="1845733" y="2224833"/>
            <a:ext cx="1143000" cy="3159967"/>
          </a:xfrm>
          <a:prstGeom prst="rect">
            <a:avLst/>
          </a:prstGeom>
          <a:solidFill>
            <a:srgbClr val="2E4E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6A11B7-FE00-F3D9-293A-F0D7EF7FF13E}"/>
              </a:ext>
            </a:extLst>
          </p:cNvPr>
          <p:cNvSpPr txBox="1"/>
          <p:nvPr/>
        </p:nvSpPr>
        <p:spPr>
          <a:xfrm>
            <a:off x="1112520" y="5410200"/>
            <a:ext cx="5132493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21252B"/>
                </a:solidFill>
                <a:latin typeface="Calibri" panose="020F0502020204030204" pitchFamily="34" charset="0"/>
              </a:rPr>
              <a:t>AP1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2A31F2-A644-F751-682D-773ACDB9ED28}"/>
              </a:ext>
            </a:extLst>
          </p:cNvPr>
          <p:cNvSpPr/>
          <p:nvPr/>
        </p:nvSpPr>
        <p:spPr>
          <a:xfrm>
            <a:off x="5511800" y="2191916"/>
            <a:ext cx="1143000" cy="3192884"/>
          </a:xfrm>
          <a:prstGeom prst="rect">
            <a:avLst/>
          </a:prstGeom>
          <a:solidFill>
            <a:srgbClr val="2E4E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64CDCD-F0AC-5B65-36A8-C38475674346}"/>
              </a:ext>
            </a:extLst>
          </p:cNvPr>
          <p:cNvSpPr txBox="1"/>
          <p:nvPr/>
        </p:nvSpPr>
        <p:spPr>
          <a:xfrm>
            <a:off x="4778587" y="5410200"/>
            <a:ext cx="5132493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21252B"/>
                </a:solidFill>
                <a:latin typeface="Calibri" panose="020F0502020204030204" pitchFamily="34" charset="0"/>
              </a:rPr>
              <a:t>AP2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1C33EB-33BF-4B81-42BC-414AD04583A2}"/>
              </a:ext>
            </a:extLst>
          </p:cNvPr>
          <p:cNvSpPr/>
          <p:nvPr/>
        </p:nvSpPr>
        <p:spPr>
          <a:xfrm>
            <a:off x="9177867" y="2159000"/>
            <a:ext cx="1143000" cy="3225800"/>
          </a:xfrm>
          <a:prstGeom prst="rect">
            <a:avLst/>
          </a:prstGeom>
          <a:solidFill>
            <a:srgbClr val="2E4E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31DD27-9DAB-4C93-3417-5396DA288D66}"/>
              </a:ext>
            </a:extLst>
          </p:cNvPr>
          <p:cNvSpPr txBox="1"/>
          <p:nvPr/>
        </p:nvSpPr>
        <p:spPr>
          <a:xfrm>
            <a:off x="8444654" y="5410200"/>
            <a:ext cx="5132493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21252B"/>
                </a:solidFill>
                <a:latin typeface="Calibri" panose="020F0502020204030204" pitchFamily="34" charset="0"/>
              </a:rPr>
              <a:t>AP3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AC950A-1080-767F-C496-3553FD556C3A}"/>
              </a:ext>
            </a:extLst>
          </p:cNvPr>
          <p:cNvSpPr txBox="1"/>
          <p:nvPr/>
        </p:nvSpPr>
        <p:spPr>
          <a:xfrm>
            <a:off x="508000" y="5842000"/>
            <a:ext cx="1117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5A606A"/>
                </a:solidFill>
                <a:latin typeface="Calibri" panose="020F0502020204030204" pitchFamily="34" charset="0"/>
              </a:rPr>
              <a:t>Series in report: Completion %, Down 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54FB97-72F1-51A3-34A8-C0D66B8946E8}"/>
              </a:ext>
            </a:extLst>
          </p:cNvPr>
          <p:cNvSpPr txBox="1"/>
          <p:nvPr/>
        </p:nvSpPr>
        <p:spPr>
          <a:xfrm>
            <a:off x="355600" y="6553200"/>
            <a:ext cx="1143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5A606A"/>
                </a:solidFill>
                <a:latin typeface="Calibri" panose="020F0502020204030204" pitchFamily="34" charset="0"/>
              </a:rPr>
              <a:t>19101  |  FY2026 AP4-6  |  4/10 Modified Work Week proposal  |  generated 10/23/2026, 5:10:00 PM</a:t>
            </a:r>
          </a:p>
        </p:txBody>
      </p:sp>
    </p:spTree>
    <p:extLst>
      <p:ext uri="{BB962C8B-B14F-4D97-AF65-F5344CB8AC3E}">
        <p14:creationId xmlns:p14="http://schemas.microsoft.com/office/powerpoint/2010/main" val="2326379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44B464-287A-78BB-565D-72DB860FABFE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9D56C5-389D-B391-7DD5-5C78DE7AA728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49DA30-2CAC-7ADB-F030-071C1777FB00}"/>
              </a:ext>
            </a:extLst>
          </p:cNvPr>
          <p:cNvSpPr txBox="1"/>
          <p:nvPr/>
        </p:nvSpPr>
        <p:spPr>
          <a:xfrm>
            <a:off x="355600" y="1016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F2B8C3"/>
                </a:solidFill>
                <a:latin typeface="Calibri" panose="020F0502020204030204" pitchFamily="34" charset="0"/>
              </a:rPr>
              <a:t>BUSINESS CASE — USPS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2D7B4-89CB-A3AD-835F-0EEA1D440408}"/>
              </a:ext>
            </a:extLst>
          </p:cNvPr>
          <p:cNvSpPr txBox="1"/>
          <p:nvPr/>
        </p:nvSpPr>
        <p:spPr>
          <a:xfrm>
            <a:off x="355600" y="304800"/>
            <a:ext cx="1143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Less overtime, less contractor spend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B66C47-5083-2F61-4CE4-F6A02D59E46B}"/>
              </a:ext>
            </a:extLst>
          </p:cNvPr>
          <p:cNvSpPr txBox="1"/>
          <p:nvPr/>
        </p:nvSpPr>
        <p:spPr>
          <a:xfrm>
            <a:off x="355600" y="12192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1F3864"/>
                </a:solidFill>
                <a:latin typeface="Calibri" panose="020F0502020204030204" pitchFamily="34" charset="0"/>
              </a:rPr>
              <a:t>Contract maintenance cost (period): $1,602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582B84-27DF-93F7-899C-5B19CA661C99}"/>
              </a:ext>
            </a:extLst>
          </p:cNvPr>
          <p:cNvSpPr txBox="1"/>
          <p:nvPr/>
        </p:nvSpPr>
        <p:spPr>
          <a:xfrm>
            <a:off x="508000" y="1930400"/>
            <a:ext cx="1117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5A606A"/>
                </a:solidFill>
                <a:latin typeface="Calibri" panose="020F0502020204030204" pitchFamily="34" charset="0"/>
              </a:rPr>
              <a:t>Contract cost by scope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AC8207-D44B-C560-BA9D-DC12610A3700}"/>
              </a:ext>
            </a:extLst>
          </p:cNvPr>
          <p:cNvSpPr/>
          <p:nvPr/>
        </p:nvSpPr>
        <p:spPr>
          <a:xfrm>
            <a:off x="2762250" y="4311919"/>
            <a:ext cx="1143000" cy="1326881"/>
          </a:xfrm>
          <a:prstGeom prst="rect">
            <a:avLst/>
          </a:prstGeom>
          <a:solidFill>
            <a:srgbClr val="1E7A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291AD7-7729-F7DB-E01A-CAD137DADE83}"/>
              </a:ext>
            </a:extLst>
          </p:cNvPr>
          <p:cNvSpPr txBox="1"/>
          <p:nvPr/>
        </p:nvSpPr>
        <p:spPr>
          <a:xfrm>
            <a:off x="1662430" y="5664200"/>
            <a:ext cx="769874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21252B"/>
                </a:solidFill>
                <a:latin typeface="Calibri" panose="020F0502020204030204" pitchFamily="34" charset="0"/>
              </a:rPr>
              <a:t>CONTRACT_S…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C73627-7CD9-6D78-BA41-9FA887A3D934}"/>
              </a:ext>
            </a:extLst>
          </p:cNvPr>
          <p:cNvSpPr/>
          <p:nvPr/>
        </p:nvSpPr>
        <p:spPr>
          <a:xfrm>
            <a:off x="8261350" y="2159000"/>
            <a:ext cx="1143000" cy="3479800"/>
          </a:xfrm>
          <a:prstGeom prst="rect">
            <a:avLst/>
          </a:prstGeom>
          <a:solidFill>
            <a:srgbClr val="1E7A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EA33E2-FF16-FE14-FF76-BB865163F7A4}"/>
              </a:ext>
            </a:extLst>
          </p:cNvPr>
          <p:cNvSpPr txBox="1"/>
          <p:nvPr/>
        </p:nvSpPr>
        <p:spPr>
          <a:xfrm>
            <a:off x="7161530" y="5664200"/>
            <a:ext cx="769874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21252B"/>
                </a:solidFill>
                <a:latin typeface="Calibri" panose="020F0502020204030204" pitchFamily="34" charset="0"/>
              </a:rPr>
              <a:t>CONTRACT_N…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AE6521-3DA8-0C78-FC66-F967F4A9BBFA}"/>
              </a:ext>
            </a:extLst>
          </p:cNvPr>
          <p:cNvSpPr txBox="1"/>
          <p:nvPr/>
        </p:nvSpPr>
        <p:spPr>
          <a:xfrm>
            <a:off x="508000" y="60960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21252B"/>
                </a:solidFill>
                <a:latin typeface="Calibri" panose="020F0502020204030204" pitchFamily="34" charset="0"/>
              </a:rPr>
              <a:t>Every contractor call-out absorbed in-house at straight time is hard-dollar savings.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EE6C6D-5E99-02A4-0B2B-7F24386612DD}"/>
              </a:ext>
            </a:extLst>
          </p:cNvPr>
          <p:cNvSpPr txBox="1"/>
          <p:nvPr/>
        </p:nvSpPr>
        <p:spPr>
          <a:xfrm>
            <a:off x="355600" y="6553200"/>
            <a:ext cx="1143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5A606A"/>
                </a:solidFill>
                <a:latin typeface="Calibri" panose="020F0502020204030204" pitchFamily="34" charset="0"/>
              </a:rPr>
              <a:t>19101  |  FY2026 AP4-6  |  4/10 Modified Work Week proposal  |  generated 10/23/2026, 5:10:00 PM</a:t>
            </a:r>
          </a:p>
        </p:txBody>
      </p:sp>
    </p:spTree>
    <p:extLst>
      <p:ext uri="{BB962C8B-B14F-4D97-AF65-F5344CB8AC3E}">
        <p14:creationId xmlns:p14="http://schemas.microsoft.com/office/powerpoint/2010/main" val="3586488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3798F4-450B-EE1D-EF10-2555EC81FE40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160685-0B68-FA9A-B3BA-18B44B90634F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9B33FF-9DB6-6267-B550-15CA8B0D8A33}"/>
              </a:ext>
            </a:extLst>
          </p:cNvPr>
          <p:cNvSpPr txBox="1"/>
          <p:nvPr/>
        </p:nvSpPr>
        <p:spPr>
          <a:xfrm>
            <a:off x="355600" y="1016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F2B8C3"/>
                </a:solidFill>
                <a:latin typeface="Calibri" panose="020F0502020204030204" pitchFamily="34" charset="0"/>
              </a:rPr>
              <a:t>BUSINESS CASE — USPS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167E9E-41B9-50A1-53C7-E0F49B32001A}"/>
              </a:ext>
            </a:extLst>
          </p:cNvPr>
          <p:cNvSpPr txBox="1"/>
          <p:nvPr/>
        </p:nvSpPr>
        <p:spPr>
          <a:xfrm>
            <a:off x="355600" y="304800"/>
            <a:ext cx="1143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The machine and parts picture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2B6D72-FCEB-9401-A9B4-29D537DA82AF}"/>
              </a:ext>
            </a:extLst>
          </p:cNvPr>
          <p:cNvSpPr txBox="1"/>
          <p:nvPr/>
        </p:nvSpPr>
        <p:spPr>
          <a:xfrm>
            <a:off x="355600" y="1219200"/>
            <a:ext cx="635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1F3864"/>
                </a:solidFill>
                <a:latin typeface="Calibri" panose="020F0502020204030204" pitchFamily="34" charset="0"/>
              </a:rPr>
              <a:t>Equipment records: 4   |   Stock room parts: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E8F10D-6C6E-1F0B-86A3-B6729378AD66}"/>
              </a:ext>
            </a:extLst>
          </p:cNvPr>
          <p:cNvSpPr txBox="1"/>
          <p:nvPr/>
        </p:nvSpPr>
        <p:spPr>
          <a:xfrm>
            <a:off x="508000" y="1930400"/>
            <a:ext cx="1117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5A606A"/>
                </a:solidFill>
                <a:latin typeface="Calibri" panose="020F0502020204030204" pitchFamily="34" charset="0"/>
              </a:rPr>
              <a:t>Equipment by condition 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F4F32F-8721-2424-34D0-E48CAB9400AF}"/>
              </a:ext>
            </a:extLst>
          </p:cNvPr>
          <p:cNvSpPr/>
          <p:nvPr/>
        </p:nvSpPr>
        <p:spPr>
          <a:xfrm>
            <a:off x="1845733" y="3898900"/>
            <a:ext cx="1143000" cy="1739900"/>
          </a:xfrm>
          <a:prstGeom prst="rect">
            <a:avLst/>
          </a:prstGeom>
          <a:solidFill>
            <a:srgbClr val="B26A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EC066E-7912-3A5D-DB74-297A5FED44D6}"/>
              </a:ext>
            </a:extLst>
          </p:cNvPr>
          <p:cNvSpPr txBox="1"/>
          <p:nvPr/>
        </p:nvSpPr>
        <p:spPr>
          <a:xfrm>
            <a:off x="1112520" y="5664200"/>
            <a:ext cx="5132493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21252B"/>
                </a:solidFill>
                <a:latin typeface="Calibri" panose="020F0502020204030204" pitchFamily="34" charset="0"/>
              </a:rPr>
              <a:t>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1CA270-341F-8F73-6EEF-31890C379B8F}"/>
              </a:ext>
            </a:extLst>
          </p:cNvPr>
          <p:cNvSpPr/>
          <p:nvPr/>
        </p:nvSpPr>
        <p:spPr>
          <a:xfrm>
            <a:off x="5511800" y="2159000"/>
            <a:ext cx="1143000" cy="3479800"/>
          </a:xfrm>
          <a:prstGeom prst="rect">
            <a:avLst/>
          </a:prstGeom>
          <a:solidFill>
            <a:srgbClr val="B26A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E15348-D09F-F625-90A2-F295091ED697}"/>
              </a:ext>
            </a:extLst>
          </p:cNvPr>
          <p:cNvSpPr txBox="1"/>
          <p:nvPr/>
        </p:nvSpPr>
        <p:spPr>
          <a:xfrm>
            <a:off x="4778587" y="5664200"/>
            <a:ext cx="5132493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21252B"/>
                </a:solidFill>
                <a:latin typeface="Calibri" panose="020F0502020204030204" pitchFamily="34" charset="0"/>
              </a:rPr>
              <a:t>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88FF5D-DDF2-D18C-1955-C936A2DB4D08}"/>
              </a:ext>
            </a:extLst>
          </p:cNvPr>
          <p:cNvSpPr/>
          <p:nvPr/>
        </p:nvSpPr>
        <p:spPr>
          <a:xfrm>
            <a:off x="9177867" y="3898900"/>
            <a:ext cx="1143000" cy="1739900"/>
          </a:xfrm>
          <a:prstGeom prst="rect">
            <a:avLst/>
          </a:prstGeom>
          <a:solidFill>
            <a:srgbClr val="B26A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26D08F-D688-2064-FF22-DADE27633DE9}"/>
              </a:ext>
            </a:extLst>
          </p:cNvPr>
          <p:cNvSpPr txBox="1"/>
          <p:nvPr/>
        </p:nvSpPr>
        <p:spPr>
          <a:xfrm>
            <a:off x="8444654" y="5664200"/>
            <a:ext cx="5132493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21252B"/>
                </a:solidFill>
                <a:latin typeface="Calibri" panose="020F0502020204030204" pitchFamily="34" charset="0"/>
              </a:rPr>
              <a:t>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C67B03-5D1A-64EC-0732-7CCBAC385FDC}"/>
              </a:ext>
            </a:extLst>
          </p:cNvPr>
          <p:cNvSpPr txBox="1"/>
          <p:nvPr/>
        </p:nvSpPr>
        <p:spPr>
          <a:xfrm>
            <a:off x="508000" y="60960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21252B"/>
                </a:solidFill>
                <a:latin typeface="Calibri" panose="020F0502020204030204" pitchFamily="34" charset="0"/>
              </a:rPr>
              <a:t>Aging machines (conditions C/D/E) carry the heaviest PM load — the machines a 10-hour crew keeps on schedule.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22DD69-5E9B-8C0E-686E-64E98A832F6D}"/>
              </a:ext>
            </a:extLst>
          </p:cNvPr>
          <p:cNvSpPr txBox="1"/>
          <p:nvPr/>
        </p:nvSpPr>
        <p:spPr>
          <a:xfrm>
            <a:off x="355600" y="6553200"/>
            <a:ext cx="1143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5A606A"/>
                </a:solidFill>
                <a:latin typeface="Calibri" panose="020F0502020204030204" pitchFamily="34" charset="0"/>
              </a:rPr>
              <a:t>19101  |  FY2026 AP4-6  |  4/10 Modified Work Week proposal  |  generated 10/23/2026, 5:10:00 PM</a:t>
            </a:r>
          </a:p>
        </p:txBody>
      </p:sp>
    </p:spTree>
    <p:extLst>
      <p:ext uri="{BB962C8B-B14F-4D97-AF65-F5344CB8AC3E}">
        <p14:creationId xmlns:p14="http://schemas.microsoft.com/office/powerpoint/2010/main" val="653250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1F2844-16FA-E2C5-2D48-37FF62B1413F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037229-7FB6-A156-9F0C-2A72050A1EDD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79E87F-D033-07D0-26F6-D96CBB27E3CD}"/>
              </a:ext>
            </a:extLst>
          </p:cNvPr>
          <p:cNvSpPr txBox="1"/>
          <p:nvPr/>
        </p:nvSpPr>
        <p:spPr>
          <a:xfrm>
            <a:off x="355600" y="1016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F2B8C3"/>
                </a:solidFill>
                <a:latin typeface="Calibri" panose="020F0502020204030204" pitchFamily="34" charset="0"/>
              </a:rPr>
              <a:t>BUSINESS CASE — USPS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4B0C7B-36C9-23DB-9BCC-A3B70217F3E1}"/>
              </a:ext>
            </a:extLst>
          </p:cNvPr>
          <p:cNvSpPr txBox="1"/>
          <p:nvPr/>
        </p:nvSpPr>
        <p:spPr>
          <a:xfrm>
            <a:off x="355600" y="304800"/>
            <a:ext cx="1143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Production runs: where the machine time goes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2E4BF5-FBD5-6D4D-F107-AC95715963B5}"/>
              </a:ext>
            </a:extLst>
          </p:cNvPr>
          <p:cNvSpPr txBox="1"/>
          <p:nvPr/>
        </p:nvSpPr>
        <p:spPr>
          <a:xfrm>
            <a:off x="355600" y="1219200"/>
            <a:ext cx="1143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5A606A"/>
                </a:solidFill>
                <a:latin typeface="Calibri" panose="020F0502020204030204" pitchFamily="34" charset="0"/>
              </a:rPr>
              <a:t>Down-time share of run time: 10.0%   |   Jams per 10k fed: 3.4   (maintenance runs excluded — they do not drive production staffing)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888020-622C-4828-45CF-8E6D2A81C792}"/>
              </a:ext>
            </a:extLst>
          </p:cNvPr>
          <p:cNvSpPr txBox="1"/>
          <p:nvPr/>
        </p:nvSpPr>
        <p:spPr>
          <a:xfrm>
            <a:off x="508000" y="1676400"/>
            <a:ext cx="1117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5A606A"/>
                </a:solidFill>
                <a:latin typeface="Calibri" panose="020F0502020204030204" pitchFamily="34" charset="0"/>
              </a:rPr>
              <a:t>Minutes by tour (production runs only)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9D0DB2-CB00-C1A2-5856-FF40A75ACF7F}"/>
              </a:ext>
            </a:extLst>
          </p:cNvPr>
          <p:cNvSpPr/>
          <p:nvPr/>
        </p:nvSpPr>
        <p:spPr>
          <a:xfrm>
            <a:off x="1809750" y="1905000"/>
            <a:ext cx="762000" cy="3860800"/>
          </a:xfrm>
          <a:prstGeom prst="rect">
            <a:avLst/>
          </a:prstGeom>
          <a:solidFill>
            <a:srgbClr val="2E4E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42C5BA-A578-C5B3-BA83-067D0C335873}"/>
              </a:ext>
            </a:extLst>
          </p:cNvPr>
          <p:cNvSpPr/>
          <p:nvPr/>
        </p:nvSpPr>
        <p:spPr>
          <a:xfrm>
            <a:off x="2571750" y="5290194"/>
            <a:ext cx="762000" cy="475606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7FE863-2322-EEE8-657D-C957CFF5E8F4}"/>
              </a:ext>
            </a:extLst>
          </p:cNvPr>
          <p:cNvSpPr/>
          <p:nvPr/>
        </p:nvSpPr>
        <p:spPr>
          <a:xfrm>
            <a:off x="3333750" y="5374125"/>
            <a:ext cx="762000" cy="391675"/>
          </a:xfrm>
          <a:prstGeom prst="rect">
            <a:avLst/>
          </a:prstGeom>
          <a:solidFill>
            <a:srgbClr val="1E7A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278DF1-73E5-9384-D581-E7B29520672A}"/>
              </a:ext>
            </a:extLst>
          </p:cNvPr>
          <p:cNvSpPr/>
          <p:nvPr/>
        </p:nvSpPr>
        <p:spPr>
          <a:xfrm>
            <a:off x="4095750" y="5625916"/>
            <a:ext cx="762000" cy="139884"/>
          </a:xfrm>
          <a:prstGeom prst="rect">
            <a:avLst/>
          </a:prstGeom>
          <a:solidFill>
            <a:srgbClr val="B26A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307407-CB98-7973-8B94-D00D4A0E6AE2}"/>
              </a:ext>
            </a:extLst>
          </p:cNvPr>
          <p:cNvSpPr txBox="1"/>
          <p:nvPr/>
        </p:nvSpPr>
        <p:spPr>
          <a:xfrm>
            <a:off x="584200" y="5791200"/>
            <a:ext cx="54991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21252B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8A43E6-C71F-692C-BAE0-FE20A8923BE7}"/>
              </a:ext>
            </a:extLst>
          </p:cNvPr>
          <p:cNvSpPr/>
          <p:nvPr/>
        </p:nvSpPr>
        <p:spPr>
          <a:xfrm>
            <a:off x="7308850" y="3751469"/>
            <a:ext cx="762000" cy="2014331"/>
          </a:xfrm>
          <a:prstGeom prst="rect">
            <a:avLst/>
          </a:prstGeom>
          <a:solidFill>
            <a:srgbClr val="2E4E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C3F316-BADF-4373-81C5-7E0B9B034D0A}"/>
              </a:ext>
            </a:extLst>
          </p:cNvPr>
          <p:cNvSpPr/>
          <p:nvPr/>
        </p:nvSpPr>
        <p:spPr>
          <a:xfrm>
            <a:off x="8070850" y="5653893"/>
            <a:ext cx="762000" cy="111907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86FB85-62F5-263C-33DD-D94E97AD8684}"/>
              </a:ext>
            </a:extLst>
          </p:cNvPr>
          <p:cNvSpPr/>
          <p:nvPr/>
        </p:nvSpPr>
        <p:spPr>
          <a:xfrm>
            <a:off x="8832850" y="5458055"/>
            <a:ext cx="762000" cy="307745"/>
          </a:xfrm>
          <a:prstGeom prst="rect">
            <a:avLst/>
          </a:prstGeom>
          <a:solidFill>
            <a:srgbClr val="1E7A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35AB7C-8E6E-6B09-6520-6964460E6040}"/>
              </a:ext>
            </a:extLst>
          </p:cNvPr>
          <p:cNvSpPr/>
          <p:nvPr/>
        </p:nvSpPr>
        <p:spPr>
          <a:xfrm>
            <a:off x="9594850" y="5737823"/>
            <a:ext cx="762000" cy="27977"/>
          </a:xfrm>
          <a:prstGeom prst="rect">
            <a:avLst/>
          </a:prstGeom>
          <a:solidFill>
            <a:srgbClr val="B26A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24F548-BF36-8593-CDFF-416B13A7475F}"/>
              </a:ext>
            </a:extLst>
          </p:cNvPr>
          <p:cNvSpPr txBox="1"/>
          <p:nvPr/>
        </p:nvSpPr>
        <p:spPr>
          <a:xfrm>
            <a:off x="6083300" y="5791200"/>
            <a:ext cx="54991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21252B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44972E-25D3-7FC2-B20E-831D211D7308}"/>
              </a:ext>
            </a:extLst>
          </p:cNvPr>
          <p:cNvSpPr txBox="1"/>
          <p:nvPr/>
        </p:nvSpPr>
        <p:spPr>
          <a:xfrm>
            <a:off x="584200" y="6045200"/>
            <a:ext cx="10998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5A606A"/>
                </a:solidFill>
                <a:latin typeface="Calibri" panose="020F0502020204030204" pitchFamily="34" charset="0"/>
              </a:rPr>
              <a:t>run  |  down  |  idle  |  jam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195224-D4A8-37AD-0262-D936B7CAB1C2}"/>
              </a:ext>
            </a:extLst>
          </p:cNvPr>
          <p:cNvSpPr txBox="1"/>
          <p:nvPr/>
        </p:nvSpPr>
        <p:spPr>
          <a:xfrm>
            <a:off x="355600" y="6553200"/>
            <a:ext cx="1143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5A606A"/>
                </a:solidFill>
                <a:latin typeface="Calibri" panose="020F0502020204030204" pitchFamily="34" charset="0"/>
              </a:rPr>
              <a:t>19101  |  FY2026 AP4-6  |  4/10 Modified Work Week proposal  |  generated 10/23/2026, 5:10:00 PM</a:t>
            </a:r>
          </a:p>
        </p:txBody>
      </p:sp>
    </p:spTree>
    <p:extLst>
      <p:ext uri="{BB962C8B-B14F-4D97-AF65-F5344CB8AC3E}">
        <p14:creationId xmlns:p14="http://schemas.microsoft.com/office/powerpoint/2010/main" val="2421773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1B5A83-7E21-CBF4-61F2-4F421E21F8A3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A55A51-7556-81F6-359F-76EB273D7503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C242EC-20F9-EFC0-CC7B-F6A0D7BB6DAF}"/>
              </a:ext>
            </a:extLst>
          </p:cNvPr>
          <p:cNvSpPr txBox="1"/>
          <p:nvPr/>
        </p:nvSpPr>
        <p:spPr>
          <a:xfrm>
            <a:off x="355600" y="1016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F2B8C3"/>
                </a:solidFill>
                <a:latin typeface="Calibri" panose="020F0502020204030204" pitchFamily="34" charset="0"/>
              </a:rPr>
              <a:t>BUSINESS CASE — USPS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28DCC3-2F58-8D44-EA23-87DD424749B4}"/>
              </a:ext>
            </a:extLst>
          </p:cNvPr>
          <p:cNvSpPr txBox="1"/>
          <p:nvPr/>
        </p:nvSpPr>
        <p:spPr>
          <a:xfrm>
            <a:off x="355600" y="304800"/>
            <a:ext cx="1143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Staffing &amp; workload: the labor math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B1E26B-75E8-9144-91A4-07B77B36C78A}"/>
              </a:ext>
            </a:extLst>
          </p:cNvPr>
          <p:cNvSpPr txBox="1"/>
          <p:nvPr/>
        </p:nvSpPr>
        <p:spPr>
          <a:xfrm>
            <a:off x="355600" y="1219200"/>
            <a:ext cx="3048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1F3864"/>
                </a:solidFill>
                <a:latin typeface="Calibri" panose="020F0502020204030204" pitchFamily="34" charset="0"/>
              </a:rPr>
              <a:t>Machines: 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F849A1-DAA5-CBE1-EB16-EA083F4397E8}"/>
              </a:ext>
            </a:extLst>
          </p:cNvPr>
          <p:cNvSpPr txBox="1"/>
          <p:nvPr/>
        </p:nvSpPr>
        <p:spPr>
          <a:xfrm>
            <a:off x="3556000" y="1219200"/>
            <a:ext cx="3175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1F3864"/>
                </a:solidFill>
                <a:latin typeface="Calibri" panose="020F0502020204030204" pitchFamily="34" charset="0"/>
              </a:rPr>
              <a:t>eWHEP claimed: 4200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484F64-CC5E-D387-A9C4-D3E36E801312}"/>
              </a:ext>
            </a:extLst>
          </p:cNvPr>
          <p:cNvSpPr txBox="1"/>
          <p:nvPr/>
        </p:nvSpPr>
        <p:spPr>
          <a:xfrm>
            <a:off x="6858000" y="1219200"/>
            <a:ext cx="3175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1F3864"/>
                </a:solidFill>
                <a:latin typeface="Calibri" panose="020F0502020204030204" pitchFamily="34" charset="0"/>
              </a:rPr>
              <a:t>MMO required: 4700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7FB4D5-B81C-3943-E24A-75CE1882D994}"/>
              </a:ext>
            </a:extLst>
          </p:cNvPr>
          <p:cNvSpPr txBox="1"/>
          <p:nvPr/>
        </p:nvSpPr>
        <p:spPr>
          <a:xfrm>
            <a:off x="10160000" y="1219200"/>
            <a:ext cx="203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C8102E"/>
                </a:solidFill>
                <a:latin typeface="Calibri" panose="020F0502020204030204" pitchFamily="34" charset="0"/>
              </a:rPr>
              <a:t>Maint hrs/yr: 900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71CC42-A090-D169-FEBB-E060FFDA81F7}"/>
              </a:ext>
            </a:extLst>
          </p:cNvPr>
          <p:cNvSpPr txBox="1"/>
          <p:nvPr/>
        </p:nvSpPr>
        <p:spPr>
          <a:xfrm>
            <a:off x="508000" y="1930400"/>
            <a:ext cx="1117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5A606A"/>
                </a:solidFill>
                <a:latin typeface="Calibri" panose="020F0502020204030204" pitchFamily="34" charset="0"/>
              </a:rPr>
              <a:t>Claimed vs required by craft (hrs/yr)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1CB6B6-0234-7E71-1243-7C329BA74BB7}"/>
              </a:ext>
            </a:extLst>
          </p:cNvPr>
          <p:cNvSpPr/>
          <p:nvPr/>
        </p:nvSpPr>
        <p:spPr>
          <a:xfrm>
            <a:off x="1655233" y="2159000"/>
            <a:ext cx="762000" cy="3479800"/>
          </a:xfrm>
          <a:prstGeom prst="rect">
            <a:avLst/>
          </a:prstGeom>
          <a:solidFill>
            <a:srgbClr val="2E4E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278961-FFB9-8A19-48D3-B43F82E8B484}"/>
              </a:ext>
            </a:extLst>
          </p:cNvPr>
          <p:cNvSpPr/>
          <p:nvPr/>
        </p:nvSpPr>
        <p:spPr>
          <a:xfrm>
            <a:off x="2417233" y="2545644"/>
            <a:ext cx="762000" cy="3093156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33373A-3708-E369-BB5B-2954D4160E5F}"/>
              </a:ext>
            </a:extLst>
          </p:cNvPr>
          <p:cNvSpPr txBox="1"/>
          <p:nvPr/>
        </p:nvSpPr>
        <p:spPr>
          <a:xfrm>
            <a:off x="584200" y="5664200"/>
            <a:ext cx="3666067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21252B"/>
                </a:solidFill>
                <a:latin typeface="Calibri" panose="020F0502020204030204" pitchFamily="34" charset="0"/>
              </a:rPr>
              <a:t>MM7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05F346-E43E-247E-CFD5-987EC79DDDC7}"/>
              </a:ext>
            </a:extLst>
          </p:cNvPr>
          <p:cNvSpPr/>
          <p:nvPr/>
        </p:nvSpPr>
        <p:spPr>
          <a:xfrm>
            <a:off x="5321300" y="3125611"/>
            <a:ext cx="762000" cy="2513189"/>
          </a:xfrm>
          <a:prstGeom prst="rect">
            <a:avLst/>
          </a:prstGeom>
          <a:solidFill>
            <a:srgbClr val="2E4E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DECF77-AB86-547F-3111-5FE787CE18DC}"/>
              </a:ext>
            </a:extLst>
          </p:cNvPr>
          <p:cNvSpPr/>
          <p:nvPr/>
        </p:nvSpPr>
        <p:spPr>
          <a:xfrm>
            <a:off x="6083300" y="2642306"/>
            <a:ext cx="762000" cy="2996494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AEDC2E-2CA5-56E4-C9D7-3CA577B8D57F}"/>
              </a:ext>
            </a:extLst>
          </p:cNvPr>
          <p:cNvSpPr txBox="1"/>
          <p:nvPr/>
        </p:nvSpPr>
        <p:spPr>
          <a:xfrm>
            <a:off x="4250267" y="5664200"/>
            <a:ext cx="3666067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21252B"/>
                </a:solidFill>
                <a:latin typeface="Calibri" panose="020F0502020204030204" pitchFamily="34" charset="0"/>
              </a:rPr>
              <a:t>MPE9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AD8210-D419-7D74-6190-73E357FDCD16}"/>
              </a:ext>
            </a:extLst>
          </p:cNvPr>
          <p:cNvSpPr/>
          <p:nvPr/>
        </p:nvSpPr>
        <p:spPr>
          <a:xfrm>
            <a:off x="8987367" y="3512255"/>
            <a:ext cx="762000" cy="2126545"/>
          </a:xfrm>
          <a:prstGeom prst="rect">
            <a:avLst/>
          </a:prstGeom>
          <a:solidFill>
            <a:srgbClr val="2E4E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10566E-F40B-C7DC-B97A-899F47D599FE}"/>
              </a:ext>
            </a:extLst>
          </p:cNvPr>
          <p:cNvSpPr/>
          <p:nvPr/>
        </p:nvSpPr>
        <p:spPr>
          <a:xfrm>
            <a:off x="9749367" y="2642306"/>
            <a:ext cx="762000" cy="2996494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11FA97-CA92-3E2D-2327-E3973B9685F8}"/>
              </a:ext>
            </a:extLst>
          </p:cNvPr>
          <p:cNvSpPr txBox="1"/>
          <p:nvPr/>
        </p:nvSpPr>
        <p:spPr>
          <a:xfrm>
            <a:off x="7916333" y="5664200"/>
            <a:ext cx="3666067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21252B"/>
                </a:solidFill>
                <a:latin typeface="Calibri" panose="020F0502020204030204" pitchFamily="34" charset="0"/>
              </a:rPr>
              <a:t>ET10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7F4072-0227-EE49-93EA-F149DC1FFBF0}"/>
              </a:ext>
            </a:extLst>
          </p:cNvPr>
          <p:cNvSpPr txBox="1"/>
          <p:nvPr/>
        </p:nvSpPr>
        <p:spPr>
          <a:xfrm>
            <a:off x="584200" y="5918200"/>
            <a:ext cx="10998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5A606A"/>
                </a:solidFill>
                <a:latin typeface="Calibri" panose="020F0502020204030204" pitchFamily="34" charset="0"/>
              </a:rPr>
              <a:t>eWHEP claimed  |  MMO required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F4443B-9D3B-C4B8-CC9F-C3C841D92AF1}"/>
              </a:ext>
            </a:extLst>
          </p:cNvPr>
          <p:cNvSpPr txBox="1"/>
          <p:nvPr/>
        </p:nvSpPr>
        <p:spPr>
          <a:xfrm>
            <a:off x="508000" y="60960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21252B"/>
                </a:solidFill>
                <a:latin typeface="Calibri" panose="020F0502020204030204" pitchFamily="34" charset="0"/>
              </a:rPr>
              <a:t>Same total maintenance hours repackaged as 4x10 = same labor cost, 20% fewer commutes, 52 extra off-days - the workload math does not change.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F9E97E-31AF-3379-D7D2-0A1BC957B5E9}"/>
              </a:ext>
            </a:extLst>
          </p:cNvPr>
          <p:cNvSpPr txBox="1"/>
          <p:nvPr/>
        </p:nvSpPr>
        <p:spPr>
          <a:xfrm>
            <a:off x="355600" y="6553200"/>
            <a:ext cx="1143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5A606A"/>
                </a:solidFill>
                <a:latin typeface="Calibri" panose="020F0502020204030204" pitchFamily="34" charset="0"/>
              </a:rPr>
              <a:t>19101  |  FY2026 AP4-6  |  4/10 Modified Work Week proposal  |  generated 10/23/2026, 5:10:00 PM</a:t>
            </a:r>
          </a:p>
        </p:txBody>
      </p:sp>
    </p:spTree>
    <p:extLst>
      <p:ext uri="{BB962C8B-B14F-4D97-AF65-F5344CB8AC3E}">
        <p14:creationId xmlns:p14="http://schemas.microsoft.com/office/powerpoint/2010/main" val="447951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46EE89-2EC7-FDA6-5E80-5DEF4FB0786C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640C56-A7E6-779C-EA9B-9C72201707B8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BCAF8A-238F-7C8C-AAD9-6301A0FA47CE}"/>
              </a:ext>
            </a:extLst>
          </p:cNvPr>
          <p:cNvSpPr txBox="1"/>
          <p:nvPr/>
        </p:nvSpPr>
        <p:spPr>
          <a:xfrm>
            <a:off x="355600" y="1016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F2B8C3"/>
                </a:solidFill>
                <a:latin typeface="Calibri" panose="020F0502020204030204" pitchFamily="34" charset="0"/>
              </a:rPr>
              <a:t>BUSINESS CASE — USPS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0BF1C7-DF8E-72C6-F08A-AA347F49BA16}"/>
              </a:ext>
            </a:extLst>
          </p:cNvPr>
          <p:cNvSpPr txBox="1"/>
          <p:nvPr/>
        </p:nvSpPr>
        <p:spPr>
          <a:xfrm>
            <a:off x="355600" y="304800"/>
            <a:ext cx="1143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Labor actuals: where the hours really go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BCB7BB-05B8-FBAA-180A-0777B07AAD17}"/>
              </a:ext>
            </a:extLst>
          </p:cNvPr>
          <p:cNvSpPr txBox="1"/>
          <p:nvPr/>
        </p:nvSpPr>
        <p:spPr>
          <a:xfrm>
            <a:off x="355600" y="1219200"/>
            <a:ext cx="3048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1F3864"/>
                </a:solidFill>
                <a:latin typeface="Calibri" panose="020F0502020204030204" pitchFamily="34" charset="0"/>
              </a:rPr>
              <a:t>Actual hours: 3850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E64790-B9A0-D43E-7AB2-C9F1B10D3690}"/>
              </a:ext>
            </a:extLst>
          </p:cNvPr>
          <p:cNvSpPr txBox="1"/>
          <p:nvPr/>
        </p:nvSpPr>
        <p:spPr>
          <a:xfrm>
            <a:off x="3556000" y="1219200"/>
            <a:ext cx="3048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1F3864"/>
                </a:solidFill>
                <a:latin typeface="Calibri" panose="020F0502020204030204" pitchFamily="34" charset="0"/>
              </a:rPr>
              <a:t>Work orders: 214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D29C2A-A750-7595-129E-35BF6361EE87}"/>
              </a:ext>
            </a:extLst>
          </p:cNvPr>
          <p:cNvSpPr txBox="1"/>
          <p:nvPr/>
        </p:nvSpPr>
        <p:spPr>
          <a:xfrm>
            <a:off x="6731000" y="1219200"/>
            <a:ext cx="3048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1F3864"/>
                </a:solidFill>
                <a:latin typeface="Calibri" panose="020F0502020204030204" pitchFamily="34" charset="0"/>
              </a:rPr>
              <a:t>Active days: 301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D860F6-14E4-9290-4001-366E6BEE1CF8}"/>
              </a:ext>
            </a:extLst>
          </p:cNvPr>
          <p:cNvSpPr txBox="1"/>
          <p:nvPr/>
        </p:nvSpPr>
        <p:spPr>
          <a:xfrm>
            <a:off x="9779000" y="1219200"/>
            <a:ext cx="254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1F3864"/>
                </a:solidFill>
                <a:latin typeface="Calibri" panose="020F0502020204030204" pitchFamily="34" charset="0"/>
              </a:rPr>
              <a:t>Transactions: 5120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A4E5DB-133E-1DBB-08C7-416AF74FC46C}"/>
              </a:ext>
            </a:extLst>
          </p:cNvPr>
          <p:cNvSpPr txBox="1"/>
          <p:nvPr/>
        </p:nvSpPr>
        <p:spPr>
          <a:xfrm>
            <a:off x="508000" y="1930400"/>
            <a:ext cx="1117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5A606A"/>
                </a:solidFill>
                <a:latin typeface="Calibri" panose="020F0502020204030204" pitchFamily="34" charset="0"/>
              </a:rPr>
              <a:t>Actual hours by machine acronym (top)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9F6EE4-0D52-8EB0-8FCB-E57FD2096E95}"/>
              </a:ext>
            </a:extLst>
          </p:cNvPr>
          <p:cNvSpPr/>
          <p:nvPr/>
        </p:nvSpPr>
        <p:spPr>
          <a:xfrm>
            <a:off x="1387475" y="2159000"/>
            <a:ext cx="1143000" cy="3479800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4393C6-287B-1DE5-9D04-F9C35CF8F722}"/>
              </a:ext>
            </a:extLst>
          </p:cNvPr>
          <p:cNvSpPr txBox="1"/>
          <p:nvPr/>
        </p:nvSpPr>
        <p:spPr>
          <a:xfrm>
            <a:off x="837565" y="5664200"/>
            <a:ext cx="384937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21252B"/>
                </a:solidFill>
                <a:latin typeface="Calibri" panose="020F0502020204030204" pitchFamily="34" charset="0"/>
              </a:rPr>
              <a:t>DBCS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5AB11A-447E-7C77-F9B6-61B5270AC9EF}"/>
              </a:ext>
            </a:extLst>
          </p:cNvPr>
          <p:cNvSpPr/>
          <p:nvPr/>
        </p:nvSpPr>
        <p:spPr>
          <a:xfrm>
            <a:off x="4137025" y="4064605"/>
            <a:ext cx="1143000" cy="1574195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7C5539-A050-8B8C-413F-6C8F11E37CF3}"/>
              </a:ext>
            </a:extLst>
          </p:cNvPr>
          <p:cNvSpPr txBox="1"/>
          <p:nvPr/>
        </p:nvSpPr>
        <p:spPr>
          <a:xfrm>
            <a:off x="3587115" y="5664200"/>
            <a:ext cx="384937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21252B"/>
                </a:solidFill>
                <a:latin typeface="Calibri" panose="020F0502020204030204" pitchFamily="34" charset="0"/>
              </a:rPr>
              <a:t>AFCS200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E626A3-6449-3615-D810-B6801933EEA4}"/>
              </a:ext>
            </a:extLst>
          </p:cNvPr>
          <p:cNvSpPr/>
          <p:nvPr/>
        </p:nvSpPr>
        <p:spPr>
          <a:xfrm>
            <a:off x="6886575" y="4893128"/>
            <a:ext cx="1143000" cy="745672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36A7C9-E155-A9AB-FB97-88A55B2F348B}"/>
              </a:ext>
            </a:extLst>
          </p:cNvPr>
          <p:cNvSpPr txBox="1"/>
          <p:nvPr/>
        </p:nvSpPr>
        <p:spPr>
          <a:xfrm>
            <a:off x="6336665" y="5664200"/>
            <a:ext cx="384937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21252B"/>
                </a:solidFill>
                <a:latin typeface="Calibri" panose="020F0502020204030204" pitchFamily="34" charset="0"/>
              </a:rPr>
              <a:t>DIOSS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C26229-66D7-40EB-6B70-A95B5AA3B9C5}"/>
              </a:ext>
            </a:extLst>
          </p:cNvPr>
          <p:cNvSpPr/>
          <p:nvPr/>
        </p:nvSpPr>
        <p:spPr>
          <a:xfrm>
            <a:off x="9636125" y="5017407"/>
            <a:ext cx="1143000" cy="621393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2D1E8D-2290-FE3A-AFAA-4E33FADEBAB7}"/>
              </a:ext>
            </a:extLst>
          </p:cNvPr>
          <p:cNvSpPr txBox="1"/>
          <p:nvPr/>
        </p:nvSpPr>
        <p:spPr>
          <a:xfrm>
            <a:off x="9086215" y="5664200"/>
            <a:ext cx="384937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21252B"/>
                </a:solidFill>
                <a:latin typeface="Calibri" panose="020F0502020204030204" pitchFamily="34" charset="0"/>
              </a:rPr>
              <a:t>AFSM100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0EFE48-8CE7-FF66-1E88-8179BC1FD050}"/>
              </a:ext>
            </a:extLst>
          </p:cNvPr>
          <p:cNvSpPr txBox="1"/>
          <p:nvPr/>
        </p:nvSpPr>
        <p:spPr>
          <a:xfrm>
            <a:off x="508000" y="60960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21252B"/>
                </a:solidFill>
                <a:latin typeface="Calibri" panose="020F0502020204030204" pitchFamily="34" charset="0"/>
              </a:rPr>
              <a:t>Three-way: eWHEP claimed 4200 - MMO required 4700 - eMARS actual 3850 (~82% of required in the exported window).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94F380-DF6A-9B58-77FC-F037197AD61C}"/>
              </a:ext>
            </a:extLst>
          </p:cNvPr>
          <p:cNvSpPr txBox="1"/>
          <p:nvPr/>
        </p:nvSpPr>
        <p:spPr>
          <a:xfrm>
            <a:off x="355600" y="6553200"/>
            <a:ext cx="1143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5A606A"/>
                </a:solidFill>
                <a:latin typeface="Calibri" panose="020F0502020204030204" pitchFamily="34" charset="0"/>
              </a:rPr>
              <a:t>19101  |  FY2026 AP4-6  |  4/10 Modified Work Week proposal  |  generated 10/23/2026, 5:10:00 PM</a:t>
            </a:r>
          </a:p>
        </p:txBody>
      </p:sp>
    </p:spTree>
    <p:extLst>
      <p:ext uri="{BB962C8B-B14F-4D97-AF65-F5344CB8AC3E}">
        <p14:creationId xmlns:p14="http://schemas.microsoft.com/office/powerpoint/2010/main" val="4079628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B9BEB3-300F-8AEA-4DDB-DBB5E5291E65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05F703-67F5-3D85-F323-050A5E154FE5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10F342-59E8-898A-B6C6-3C99C4C96648}"/>
              </a:ext>
            </a:extLst>
          </p:cNvPr>
          <p:cNvSpPr txBox="1"/>
          <p:nvPr/>
        </p:nvSpPr>
        <p:spPr>
          <a:xfrm>
            <a:off x="355600" y="1016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F2B8C3"/>
                </a:solidFill>
                <a:latin typeface="Calibri" panose="020F0502020204030204" pitchFamily="34" charset="0"/>
              </a:rPr>
              <a:t>BUSINESS CASE — USPS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40CB84-D1E9-FBD6-F751-0511958F7129}"/>
              </a:ext>
            </a:extLst>
          </p:cNvPr>
          <p:cNvSpPr txBox="1"/>
          <p:nvPr/>
        </p:nvSpPr>
        <p:spPr>
          <a:xfrm>
            <a:off x="355600" y="304800"/>
            <a:ext cx="1143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Are maintenance windows being kept?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BC102D-4671-243A-BB56-FBD2687024BD}"/>
              </a:ext>
            </a:extLst>
          </p:cNvPr>
          <p:cNvSpPr txBox="1"/>
          <p:nvPr/>
        </p:nvSpPr>
        <p:spPr>
          <a:xfrm>
            <a:off x="355600" y="1219200"/>
            <a:ext cx="7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1E7A46"/>
                </a:solidFill>
                <a:latin typeface="Calibri" panose="020F0502020204030204" pitchFamily="34" charset="0"/>
              </a:rPr>
              <a:t>Maintenance runs recorded: 2   |   Avg window: 98 min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D9376B-397F-6321-8179-B2067E3202CD}"/>
              </a:ext>
            </a:extLst>
          </p:cNvPr>
          <p:cNvSpPr txBox="1"/>
          <p:nvPr/>
        </p:nvSpPr>
        <p:spPr>
          <a:xfrm>
            <a:off x="508000" y="1930400"/>
            <a:ext cx="1117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5A606A"/>
                </a:solidFill>
                <a:latin typeface="Calibri" panose="020F0502020204030204" pitchFamily="34" charset="0"/>
              </a:rPr>
              <a:t>Maintenance windows by tour (minutes)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98D502-350B-C780-A937-5FED3F86754B}"/>
              </a:ext>
            </a:extLst>
          </p:cNvPr>
          <p:cNvSpPr/>
          <p:nvPr/>
        </p:nvSpPr>
        <p:spPr>
          <a:xfrm>
            <a:off x="2762250" y="2656114"/>
            <a:ext cx="1143000" cy="2982686"/>
          </a:xfrm>
          <a:prstGeom prst="rect">
            <a:avLst/>
          </a:prstGeom>
          <a:solidFill>
            <a:srgbClr val="1E7A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E61681-67A0-D6C6-9EDC-568348A8D408}"/>
              </a:ext>
            </a:extLst>
          </p:cNvPr>
          <p:cNvSpPr txBox="1"/>
          <p:nvPr/>
        </p:nvSpPr>
        <p:spPr>
          <a:xfrm>
            <a:off x="1662430" y="5664200"/>
            <a:ext cx="769874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21252B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64AC24-3C2C-6C3F-C73B-58BEE10C1AEA}"/>
              </a:ext>
            </a:extLst>
          </p:cNvPr>
          <p:cNvSpPr/>
          <p:nvPr/>
        </p:nvSpPr>
        <p:spPr>
          <a:xfrm>
            <a:off x="8261350" y="2159000"/>
            <a:ext cx="1143000" cy="3479800"/>
          </a:xfrm>
          <a:prstGeom prst="rect">
            <a:avLst/>
          </a:prstGeom>
          <a:solidFill>
            <a:srgbClr val="1E7A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E13FCE-CD71-649D-8EA3-351EAC20F99D}"/>
              </a:ext>
            </a:extLst>
          </p:cNvPr>
          <p:cNvSpPr txBox="1"/>
          <p:nvPr/>
        </p:nvSpPr>
        <p:spPr>
          <a:xfrm>
            <a:off x="7161530" y="5664200"/>
            <a:ext cx="769874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21252B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C8933F-6FFA-6C17-FBD0-924F4FC351F7}"/>
              </a:ext>
            </a:extLst>
          </p:cNvPr>
          <p:cNvSpPr txBox="1"/>
          <p:nvPr/>
        </p:nvSpPr>
        <p:spPr>
          <a:xfrm>
            <a:off x="508000" y="60960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21252B"/>
                </a:solidFill>
                <a:latin typeface="Calibri" panose="020F0502020204030204" pitchFamily="34" charset="0"/>
              </a:rPr>
              <a:t>Compare actual windows vs the plan and PM due dates — a 10-hour shift matches the windows the plant already gives up.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F6FC7E-B06A-2683-AB50-6F6B22A31F23}"/>
              </a:ext>
            </a:extLst>
          </p:cNvPr>
          <p:cNvSpPr txBox="1"/>
          <p:nvPr/>
        </p:nvSpPr>
        <p:spPr>
          <a:xfrm>
            <a:off x="355600" y="6553200"/>
            <a:ext cx="1143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5A606A"/>
                </a:solidFill>
                <a:latin typeface="Calibri" panose="020F0502020204030204" pitchFamily="34" charset="0"/>
              </a:rPr>
              <a:t>19101  |  FY2026 AP4-6  |  4/10 Modified Work Week proposal  |  generated 10/23/2026, 5:10:00 PM</a:t>
            </a:r>
          </a:p>
        </p:txBody>
      </p:sp>
    </p:spTree>
    <p:extLst>
      <p:ext uri="{BB962C8B-B14F-4D97-AF65-F5344CB8AC3E}">
        <p14:creationId xmlns:p14="http://schemas.microsoft.com/office/powerpoint/2010/main" val="3152512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B56A25-C1C4-384D-0B17-0898DF46F90B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ACB37F-7A83-5D0C-76CC-68A3A8F9F074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F2E8C7-BB53-90C6-5CAE-736639F9E772}"/>
              </a:ext>
            </a:extLst>
          </p:cNvPr>
          <p:cNvSpPr txBox="1"/>
          <p:nvPr/>
        </p:nvSpPr>
        <p:spPr>
          <a:xfrm>
            <a:off x="355600" y="1016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F2B8C3"/>
                </a:solidFill>
                <a:latin typeface="Calibri" panose="020F0502020204030204" pitchFamily="34" charset="0"/>
              </a:rPr>
              <a:t>BUSINESS CASE — USPS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F99508-B76A-DEF7-1445-375A5ADA04BD}"/>
              </a:ext>
            </a:extLst>
          </p:cNvPr>
          <p:cNvSpPr txBox="1"/>
          <p:nvPr/>
        </p:nvSpPr>
        <p:spPr>
          <a:xfrm>
            <a:off x="355600" y="304800"/>
            <a:ext cx="1143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Run plan vs actual runs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2147E5-80DB-9035-0B5B-76A952FD2B20}"/>
              </a:ext>
            </a:extLst>
          </p:cNvPr>
          <p:cNvSpPr txBox="1"/>
          <p:nvPr/>
        </p:nvSpPr>
        <p:spPr>
          <a:xfrm>
            <a:off x="355600" y="12192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1F3864"/>
                </a:solidFill>
                <a:latin typeface="Calibri" panose="020F0502020204030204" pitchFamily="34" charset="0"/>
              </a:rPr>
              <a:t>Plan-vs-actual efficiency: 86.8%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48916C-C850-7B04-48C2-8DCA953224A4}"/>
              </a:ext>
            </a:extLst>
          </p:cNvPr>
          <p:cNvSpPr txBox="1"/>
          <p:nvPr/>
        </p:nvSpPr>
        <p:spPr>
          <a:xfrm>
            <a:off x="508000" y="1930400"/>
            <a:ext cx="11176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5A606A"/>
                </a:solidFill>
                <a:latin typeface="Calibri" panose="020F0502020204030204" pitchFamily="34" charset="0"/>
              </a:rPr>
              <a:t>Plan vs actual (summed)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6B36DB-7749-F349-D6F2-5A3A76FA4789}"/>
              </a:ext>
            </a:extLst>
          </p:cNvPr>
          <p:cNvSpPr/>
          <p:nvPr/>
        </p:nvSpPr>
        <p:spPr>
          <a:xfrm>
            <a:off x="2762250" y="2159000"/>
            <a:ext cx="1143000" cy="3479800"/>
          </a:xfrm>
          <a:prstGeom prst="rect">
            <a:avLst/>
          </a:prstGeom>
          <a:solidFill>
            <a:srgbClr val="2E4E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C50344-A2C4-F564-A75D-3210B9532D36}"/>
              </a:ext>
            </a:extLst>
          </p:cNvPr>
          <p:cNvSpPr txBox="1"/>
          <p:nvPr/>
        </p:nvSpPr>
        <p:spPr>
          <a:xfrm>
            <a:off x="1662430" y="5664200"/>
            <a:ext cx="769874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21252B"/>
                </a:solidFill>
                <a:latin typeface="Calibri" panose="020F0502020204030204" pitchFamily="34" charset="0"/>
              </a:rPr>
              <a:t>Plan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7EE117-ED40-21C3-D648-31E1BFC783B2}"/>
              </a:ext>
            </a:extLst>
          </p:cNvPr>
          <p:cNvSpPr/>
          <p:nvPr/>
        </p:nvSpPr>
        <p:spPr>
          <a:xfrm>
            <a:off x="8261350" y="2616868"/>
            <a:ext cx="1143000" cy="3021932"/>
          </a:xfrm>
          <a:prstGeom prst="rect">
            <a:avLst/>
          </a:prstGeom>
          <a:solidFill>
            <a:srgbClr val="2E4E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687AE4-F8A5-9384-EBF9-27272B53B9BA}"/>
              </a:ext>
            </a:extLst>
          </p:cNvPr>
          <p:cNvSpPr txBox="1"/>
          <p:nvPr/>
        </p:nvSpPr>
        <p:spPr>
          <a:xfrm>
            <a:off x="7161530" y="5664200"/>
            <a:ext cx="769874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21252B"/>
                </a:solidFill>
                <a:latin typeface="Calibri" panose="020F0502020204030204" pitchFamily="34" charset="0"/>
              </a:rPr>
              <a:t>Actual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0E3369-B78B-8ED5-910C-AC7B19D27807}"/>
              </a:ext>
            </a:extLst>
          </p:cNvPr>
          <p:cNvSpPr txBox="1"/>
          <p:nvPr/>
        </p:nvSpPr>
        <p:spPr>
          <a:xfrm>
            <a:off x="508000" y="6146800"/>
            <a:ext cx="11176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21252B"/>
                </a:solidFill>
                <a:latin typeface="Calibri" panose="020F0502020204030204" pitchFamily="34" charset="0"/>
              </a:rPr>
              <a:t>Join on site, MODS date, machine type, operation, tour. Gaps where actual &lt; plan are the efficiency a 4/10 recovers.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66E8E1-C9C8-A6DB-83E3-96FFBE8EA904}"/>
              </a:ext>
            </a:extLst>
          </p:cNvPr>
          <p:cNvSpPr txBox="1"/>
          <p:nvPr/>
        </p:nvSpPr>
        <p:spPr>
          <a:xfrm>
            <a:off x="355600" y="6553200"/>
            <a:ext cx="1143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5A606A"/>
                </a:solidFill>
                <a:latin typeface="Calibri" panose="020F0502020204030204" pitchFamily="34" charset="0"/>
              </a:rPr>
              <a:t>19101  |  FY2026 AP4-6  |  4/10 Modified Work Week proposal  |  generated 10/23/2026, 5:10:00 PM</a:t>
            </a:r>
          </a:p>
        </p:txBody>
      </p:sp>
    </p:spTree>
    <p:extLst>
      <p:ext uri="{BB962C8B-B14F-4D97-AF65-F5344CB8AC3E}">
        <p14:creationId xmlns:p14="http://schemas.microsoft.com/office/powerpoint/2010/main" val="3791270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CA82C8-D4C3-69FE-E7A4-899050C7AC8F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D5F592-16F5-0148-6DE0-85875782AC71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E039BB-2D60-2406-BEF7-842C632031FD}"/>
              </a:ext>
            </a:extLst>
          </p:cNvPr>
          <p:cNvSpPr txBox="1"/>
          <p:nvPr/>
        </p:nvSpPr>
        <p:spPr>
          <a:xfrm>
            <a:off x="355600" y="1016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F2B8C3"/>
                </a:solidFill>
                <a:latin typeface="Calibri" panose="020F0502020204030204" pitchFamily="34" charset="0"/>
              </a:rPr>
              <a:t>THE PITCH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290FFA-690B-B496-EEE1-4DE973EC549C}"/>
              </a:ext>
            </a:extLst>
          </p:cNvPr>
          <p:cNvSpPr txBox="1"/>
          <p:nvPr/>
        </p:nvSpPr>
        <p:spPr>
          <a:xfrm>
            <a:off x="355600" y="304800"/>
            <a:ext cx="1143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Why this makes business sense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A9FFD4-38B7-759E-1F9F-002E838DB3E6}"/>
              </a:ext>
            </a:extLst>
          </p:cNvPr>
          <p:cNvSpPr txBox="1"/>
          <p:nvPr/>
        </p:nvSpPr>
        <p:spPr>
          <a:xfrm>
            <a:off x="508000" y="1397000"/>
            <a:ext cx="11176000" cy="58631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1252B"/>
                </a:solidFill>
                <a:latin typeface="Calibri" panose="020F0502020204030204" pitchFamily="34" charset="0"/>
              </a:rPr>
              <a:t>Same 40 hours, zero added labor cost.  4x10 = 40. Overtime only after 10 hours in pay status or 40/week; penalty rules and 56/60 limits unchanged; Sunday premium capped at 16 hrs/week (10/4 Guidelines).</a:t>
            </a:r>
          </a:p>
          <a:p>
            <a:endParaRPr lang="en-US" sz="1500">
              <a:solidFill>
                <a:srgbClr val="21252B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21252B"/>
                </a:solidFill>
                <a:latin typeface="Calibri" panose="020F0502020204030204" pitchFamily="34" charset="0"/>
              </a:rPr>
              <a:t>More PMs in straight time.  Current completion </a:t>
            </a:r>
          </a:p>
          <a:p>
            <a:endParaRPr lang="en-US" sz="1500">
              <a:solidFill>
                <a:srgbClr val="21252B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21252B"/>
                </a:solidFill>
                <a:latin typeface="Calibri" panose="020F0502020204030204" pitchFamily="34" charset="0"/>
              </a:rPr>
              <a:t>98.2%</a:t>
            </a:r>
          </a:p>
          <a:p>
            <a:endParaRPr lang="en-US" sz="1500">
              <a:solidFill>
                <a:srgbClr val="21252B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21252B"/>
                </a:solidFill>
                <a:latin typeface="Calibri" panose="020F0502020204030204" pitchFamily="34" charset="0"/>
              </a:rPr>
              <a:t> with </a:t>
            </a:r>
          </a:p>
          <a:p>
            <a:endParaRPr lang="en-US" sz="1500">
              <a:solidFill>
                <a:srgbClr val="21252B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21252B"/>
                </a:solidFill>
                <a:latin typeface="Calibri" panose="020F0502020204030204" pitchFamily="34" charset="0"/>
              </a:rPr>
              <a:t>5</a:t>
            </a:r>
          </a:p>
          <a:p>
            <a:endParaRPr lang="en-US" sz="1500">
              <a:solidFill>
                <a:srgbClr val="21252B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21252B"/>
                </a:solidFill>
                <a:latin typeface="Calibri" panose="020F0502020204030204" pitchFamily="34" charset="0"/>
              </a:rPr>
              <a:t> bypassed tasks shows the gap.</a:t>
            </a:r>
          </a:p>
          <a:p>
            <a:endParaRPr lang="en-US" sz="1500">
              <a:solidFill>
                <a:srgbClr val="21252B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21252B"/>
                </a:solidFill>
                <a:latin typeface="Calibri" panose="020F0502020204030204" pitchFamily="34" charset="0"/>
              </a:rPr>
              <a:t>Less OT and contractor spend.  Contract cost this period: </a:t>
            </a:r>
          </a:p>
          <a:p>
            <a:endParaRPr lang="en-US" sz="1500">
              <a:solidFill>
                <a:srgbClr val="21252B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21252B"/>
                </a:solidFill>
                <a:latin typeface="Calibri" panose="020F0502020204030204" pitchFamily="34" charset="0"/>
              </a:rPr>
              <a:t>$1,602</a:t>
            </a:r>
          </a:p>
          <a:p>
            <a:endParaRPr lang="en-US" sz="1500">
              <a:solidFill>
                <a:srgbClr val="21252B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21252B"/>
                </a:solidFill>
                <a:latin typeface="Calibri" panose="020F0502020204030204" pitchFamily="34" charset="0"/>
              </a:rPr>
              <a:t>.  Production down time: </a:t>
            </a:r>
          </a:p>
          <a:p>
            <a:endParaRPr lang="en-US" sz="1500">
              <a:solidFill>
                <a:srgbClr val="21252B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21252B"/>
                </a:solidFill>
                <a:latin typeface="Calibri" panose="020F0502020204030204" pitchFamily="34" charset="0"/>
              </a:rPr>
              <a:t>10.0%</a:t>
            </a:r>
          </a:p>
          <a:p>
            <a:endParaRPr lang="en-US" sz="1500">
              <a:solidFill>
                <a:srgbClr val="21252B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21252B"/>
                </a:solidFill>
                <a:latin typeface="Calibri" panose="020F0502020204030204" pitchFamily="34" charset="0"/>
              </a:rPr>
              <a:t> of run time.</a:t>
            </a:r>
          </a:p>
          <a:p>
            <a:endParaRPr lang="en-US" sz="1500">
              <a:solidFill>
                <a:srgbClr val="21252B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21252B"/>
                </a:solidFill>
                <a:latin typeface="Calibri" panose="020F0502020204030204" pitchFamily="34" charset="0"/>
              </a:rPr>
              <a:t>Coverage and retention.  Staggered Mon-Thu / Tue-Fri crews give 6-day coverage at the same hours; a 3-day weekend recruits and retains maintenance skills at zero payroll cost.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800B8B-BBF9-F69A-DBB9-D125F2304963}"/>
              </a:ext>
            </a:extLst>
          </p:cNvPr>
          <p:cNvSpPr txBox="1"/>
          <p:nvPr/>
        </p:nvSpPr>
        <p:spPr>
          <a:xfrm>
            <a:off x="355600" y="6553200"/>
            <a:ext cx="1143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5A606A"/>
                </a:solidFill>
                <a:latin typeface="Calibri" panose="020F0502020204030204" pitchFamily="34" charset="0"/>
              </a:rPr>
              <a:t>19101  |  FY2026 AP4-6  |  4/10 Modified Work Week proposal  |  generated 10/23/2026, 5:10:00 PM</a:t>
            </a:r>
          </a:p>
        </p:txBody>
      </p:sp>
    </p:spTree>
    <p:extLst>
      <p:ext uri="{BB962C8B-B14F-4D97-AF65-F5344CB8AC3E}">
        <p14:creationId xmlns:p14="http://schemas.microsoft.com/office/powerpoint/2010/main" val="586731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F6AE00-8983-C4D3-621D-4DA5790F35B6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6E141B-C444-148B-BCB6-508ACB04DCD8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5101F6-AF5F-52C9-3EF3-102693DF97C0}"/>
              </a:ext>
            </a:extLst>
          </p:cNvPr>
          <p:cNvSpPr txBox="1"/>
          <p:nvPr/>
        </p:nvSpPr>
        <p:spPr>
          <a:xfrm>
            <a:off x="355600" y="1016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F2B8C3"/>
                </a:solidFill>
                <a:latin typeface="Calibri" panose="020F0502020204030204" pitchFamily="34" charset="0"/>
              </a:rPr>
              <a:t>UNION CASE — APWU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10C884-A785-53EE-EB98-939C2368DFB5}"/>
              </a:ext>
            </a:extLst>
          </p:cNvPr>
          <p:cNvSpPr txBox="1"/>
          <p:nvPr/>
        </p:nvSpPr>
        <p:spPr>
          <a:xfrm>
            <a:off x="355600" y="304800"/>
            <a:ext cx="1143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A win our members keep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7A20A1-DA04-DF83-DDD1-A1748CC72934}"/>
              </a:ext>
            </a:extLst>
          </p:cNvPr>
          <p:cNvSpPr txBox="1"/>
          <p:nvPr/>
        </p:nvSpPr>
        <p:spPr>
          <a:xfrm>
            <a:off x="508000" y="1397000"/>
            <a:ext cx="11176000" cy="19389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1252B"/>
                </a:solidFill>
                <a:latin typeface="Calibri" panose="020F0502020204030204" pitchFamily="34" charset="0"/>
              </a:rPr>
              <a:t>Every protection intact.  88 holiday hours guaranteed; leave charged up to 10 hrs/day; OTDL rights unchanged; NS-day guarantee stays 8 hrs; training 5+ days reverts to 8/5 (CBA pp. 298-301).</a:t>
            </a:r>
          </a:p>
          <a:p>
            <a:endParaRPr lang="en-US" sz="1500">
              <a:solidFill>
                <a:srgbClr val="21252B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21252B"/>
                </a:solidFill>
                <a:latin typeface="Calibri" panose="020F0502020204030204" pitchFamily="34" charset="0"/>
              </a:rPr>
              <a:t>Voluntary and reversible.  Either side declines freely - no impasse, no grievance.  30-day written cancellation (CBA p. 297).</a:t>
            </a:r>
          </a:p>
          <a:p>
            <a:endParaRPr lang="en-US" sz="1500">
              <a:solidFill>
                <a:srgbClr val="21252B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21252B"/>
                </a:solidFill>
                <a:latin typeface="Calibri" panose="020F0502020204030204" pitchFamily="34" charset="0"/>
              </a:rPr>
              <a:t>No NTFT creep in Maintenance.  4/10 keeps every assignment full-time regular - posted and bid by seniority under Article 38.</a:t>
            </a:r>
          </a:p>
          <a:p>
            <a:endParaRPr lang="en-US" sz="1500">
              <a:solidFill>
                <a:srgbClr val="21252B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21252B"/>
                </a:solidFill>
                <a:latin typeface="Calibri" panose="020F0502020204030204" pitchFamily="34" charset="0"/>
              </a:rPr>
              <a:t>52 extra days off a year.  20% fewer commutes.  A real quality-of-life win with nothing traded away.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8829FB-1753-54C1-0393-CBCF58291FB5}"/>
              </a:ext>
            </a:extLst>
          </p:cNvPr>
          <p:cNvSpPr txBox="1"/>
          <p:nvPr/>
        </p:nvSpPr>
        <p:spPr>
          <a:xfrm>
            <a:off x="355600" y="6553200"/>
            <a:ext cx="1143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5A606A"/>
                </a:solidFill>
                <a:latin typeface="Calibri" panose="020F0502020204030204" pitchFamily="34" charset="0"/>
              </a:rPr>
              <a:t>19101  |  FY2026 AP4-6  |  4/10 Modified Work Week proposal  |  generated 10/23/2026, 5:10:00 PM</a:t>
            </a:r>
          </a:p>
        </p:txBody>
      </p:sp>
    </p:spTree>
    <p:extLst>
      <p:ext uri="{BB962C8B-B14F-4D97-AF65-F5344CB8AC3E}">
        <p14:creationId xmlns:p14="http://schemas.microsoft.com/office/powerpoint/2010/main" val="2682514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9D16E2-A369-F338-77A3-8C8DF494CE86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47C62E-E819-952C-F47E-412D247197E5}"/>
              </a:ext>
            </a:extLst>
          </p:cNvPr>
          <p:cNvSpPr/>
          <p:nvPr/>
        </p:nvSpPr>
        <p:spPr>
          <a:xfrm>
            <a:off x="0" y="812800"/>
            <a:ext cx="12192000" cy="50800"/>
          </a:xfrm>
          <a:prstGeom prst="rect">
            <a:avLst/>
          </a:prstGeom>
          <a:solidFill>
            <a:srgbClr val="C810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932E8E-52DC-A563-65A0-3AFECFDC308E}"/>
              </a:ext>
            </a:extLst>
          </p:cNvPr>
          <p:cNvSpPr txBox="1"/>
          <p:nvPr/>
        </p:nvSpPr>
        <p:spPr>
          <a:xfrm>
            <a:off x="355600" y="101600"/>
            <a:ext cx="1143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 b="1">
                <a:solidFill>
                  <a:srgbClr val="F2B8C3"/>
                </a:solidFill>
                <a:latin typeface="Calibri" panose="020F0502020204030204" pitchFamily="34" charset="0"/>
              </a:rPr>
              <a:t>NEXT STEP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C3D076-B39A-1388-FEE9-CC599DB7E14D}"/>
              </a:ext>
            </a:extLst>
          </p:cNvPr>
          <p:cNvSpPr txBox="1"/>
          <p:nvPr/>
        </p:nvSpPr>
        <p:spPr>
          <a:xfrm>
            <a:off x="355600" y="304800"/>
            <a:ext cx="11430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Request for Information — data that completes the case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9DC54E-0162-F2B8-9B74-E292614065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710431"/>
              </p:ext>
            </p:extLst>
          </p:nvPr>
        </p:nvGraphicFramePr>
        <p:xfrm>
          <a:off x="355600" y="1270000"/>
          <a:ext cx="11480800" cy="5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2000">
                  <a:extLst>
                    <a:ext uri="{9D8B030D-6E8A-4147-A177-3AD203B41FA5}">
                      <a16:colId xmlns:a16="http://schemas.microsoft.com/office/drawing/2014/main" val="3784572051"/>
                    </a:ext>
                  </a:extLst>
                </a:gridCol>
                <a:gridCol w="4368800">
                  <a:extLst>
                    <a:ext uri="{9D8B030D-6E8A-4147-A177-3AD203B41FA5}">
                      <a16:colId xmlns:a16="http://schemas.microsoft.com/office/drawing/2014/main" val="85535889"/>
                    </a:ext>
                  </a:extLst>
                </a:gridCol>
              </a:tblGrid>
              <a:tr h="564444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Request via RFI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What it proves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700843"/>
                  </a:ext>
                </a:extLst>
              </a:tr>
              <a:tr h="564444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1252B"/>
                          </a:solidFill>
                        </a:rPr>
                        <a:t>TACS overtime + penalty-OT hours and dollars by tour, pay period, occupational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5A606A"/>
                          </a:solidFill>
                        </a:rPr>
                        <a:t>The 8-10 window conversion to straight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687164"/>
                  </a:ext>
                </a:extLst>
              </a:tr>
              <a:tr h="564444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1252B"/>
                          </a:solidFill>
                        </a:rPr>
                        <a:t>Staffing complement vs vacancies (PS 4852) by occupational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5A606A"/>
                          </a:solidFill>
                        </a:rPr>
                        <a:t>Staffing leverage of 4/10; posting options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343570"/>
                  </a:ext>
                </a:extLst>
              </a:tr>
              <a:tr h="564444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1252B"/>
                          </a:solidFill>
                        </a:rPr>
                        <a:t>eCBM/MS-47 PM workload hours due vs completed (detail export)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5A606A"/>
                          </a:solidFill>
                        </a:rPr>
                        <a:t>PM backlog in hours - the pilot's 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750948"/>
                  </a:ext>
                </a:extLst>
              </a:tr>
              <a:tr h="564444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1252B"/>
                          </a:solidFill>
                        </a:rPr>
                        <a:t>Contractor maintenance invoices (vendor, machine, work type)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5A606A"/>
                          </a:solidFill>
                        </a:rPr>
                        <a:t>Per-machine contractor substitution savings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601796"/>
                  </a:ext>
                </a:extLst>
              </a:tr>
              <a:tr h="564444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1252B"/>
                          </a:solidFill>
                        </a:rPr>
                        <a:t>MODS/EDW downtime extract (97/98 transactions)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5A606A"/>
                          </a:solidFill>
                        </a:rPr>
                        <a:t>Independent cross-check of WebEOR down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60189"/>
                  </a:ext>
                </a:extLst>
              </a:tr>
              <a:tr h="564444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1252B"/>
                          </a:solidFill>
                        </a:rPr>
                        <a:t>Plant operating hours + utility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5A606A"/>
                          </a:solidFill>
                        </a:rPr>
                        <a:t>Window alignment for 10-hour tours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36"/>
                  </a:ext>
                </a:extLst>
              </a:tr>
              <a:tr h="564444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1252B"/>
                          </a:solidFill>
                        </a:rPr>
                        <a:t>Safety incident records (OSHA 300/301)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5A606A"/>
                          </a:solidFill>
                        </a:rPr>
                        <a:t>Fatigue-objection baseline for the pilot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63904"/>
                  </a:ext>
                </a:extLst>
              </a:tr>
              <a:tr h="564444"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21252B"/>
                          </a:solidFill>
                        </a:rPr>
                        <a:t>Leave/absence usage by day of week (TACS)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5A606A"/>
                          </a:solidFill>
                        </a:rPr>
                        <a:t>Quality-of-life / commute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30589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92312FB-1CA9-9571-9A13-F694FF6A0216}"/>
              </a:ext>
            </a:extLst>
          </p:cNvPr>
          <p:cNvSpPr txBox="1"/>
          <p:nvPr/>
        </p:nvSpPr>
        <p:spPr>
          <a:xfrm>
            <a:off x="355600" y="6553200"/>
            <a:ext cx="1143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5A606A"/>
                </a:solidFill>
                <a:latin typeface="Calibri" panose="020F0502020204030204" pitchFamily="34" charset="0"/>
              </a:rPr>
              <a:t>19101  |  FY2026 AP4-6  |  4/10 Modified Work Week proposal  |  generated 10/23/2026, 5:10:00 PM</a:t>
            </a:r>
          </a:p>
        </p:txBody>
      </p:sp>
    </p:spTree>
    <p:extLst>
      <p:ext uri="{BB962C8B-B14F-4D97-AF65-F5344CB8AC3E}">
        <p14:creationId xmlns:p14="http://schemas.microsoft.com/office/powerpoint/2010/main" val="266626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1319</Words>
  <Application>Microsoft Office PowerPoint</Application>
  <PresentationFormat>Custom</PresentationFormat>
  <Paragraphs>193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SHAW</dc:creator>
  <cp:lastModifiedBy>JOSEPH SHAW</cp:lastModifiedBy>
  <cp:revision>1</cp:revision>
  <dcterms:created xsi:type="dcterms:W3CDTF">2026-10-23T21:23:42Z</dcterms:created>
  <dcterms:modified xsi:type="dcterms:W3CDTF">2026-10-23T21:23:42Z</dcterms:modified>
</cp:coreProperties>
</file>